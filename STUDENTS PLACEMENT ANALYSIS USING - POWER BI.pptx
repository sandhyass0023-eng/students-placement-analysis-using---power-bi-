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0A8441-5CE9-44F0-92FD-D68F23C30642}" v="35" dt="2026-05-04T14:39:11.3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hya S" userId="c8502fb30bfb858f" providerId="LiveId" clId="{969269AE-7CAD-4315-9F0F-0C843EF59B5F}"/>
    <pc:docChg chg="custSel addSld modSld">
      <pc:chgData name="Sandhya S" userId="c8502fb30bfb858f" providerId="LiveId" clId="{969269AE-7CAD-4315-9F0F-0C843EF59B5F}" dt="2026-05-04T14:40:50.624" v="440" actId="1076"/>
      <pc:docMkLst>
        <pc:docMk/>
      </pc:docMkLst>
      <pc:sldChg chg="modSp mod">
        <pc:chgData name="Sandhya S" userId="c8502fb30bfb858f" providerId="LiveId" clId="{969269AE-7CAD-4315-9F0F-0C843EF59B5F}" dt="2026-05-02T14:21:10.745" v="0" actId="1076"/>
        <pc:sldMkLst>
          <pc:docMk/>
          <pc:sldMk cId="1737481562" sldId="264"/>
        </pc:sldMkLst>
        <pc:spChg chg="mod">
          <ac:chgData name="Sandhya S" userId="c8502fb30bfb858f" providerId="LiveId" clId="{969269AE-7CAD-4315-9F0F-0C843EF59B5F}" dt="2026-05-02T14:21:10.745" v="0" actId="1076"/>
          <ac:spMkLst>
            <pc:docMk/>
            <pc:sldMk cId="1737481562" sldId="264"/>
            <ac:spMk id="3" creationId="{770640A6-DA6E-227F-D184-406DBD06D6FA}"/>
          </ac:spMkLst>
        </pc:spChg>
      </pc:sldChg>
      <pc:sldChg chg="addSp modSp mod">
        <pc:chgData name="Sandhya S" userId="c8502fb30bfb858f" providerId="LiveId" clId="{969269AE-7CAD-4315-9F0F-0C843EF59B5F}" dt="2026-05-03T13:02:54.740" v="31"/>
        <pc:sldMkLst>
          <pc:docMk/>
          <pc:sldMk cId="3483485046" sldId="266"/>
        </pc:sldMkLst>
        <pc:spChg chg="add mod">
          <ac:chgData name="Sandhya S" userId="c8502fb30bfb858f" providerId="LiveId" clId="{969269AE-7CAD-4315-9F0F-0C843EF59B5F}" dt="2026-05-03T12:58:47.183" v="11" actId="255"/>
          <ac:spMkLst>
            <pc:docMk/>
            <pc:sldMk cId="3483485046" sldId="266"/>
            <ac:spMk id="3" creationId="{DC632613-A0BB-6247-97F0-DA77C95DBE5C}"/>
          </ac:spMkLst>
        </pc:spChg>
        <pc:spChg chg="add mod">
          <ac:chgData name="Sandhya S" userId="c8502fb30bfb858f" providerId="LiveId" clId="{969269AE-7CAD-4315-9F0F-0C843EF59B5F}" dt="2026-05-03T12:57:55.872" v="7" actId="1076"/>
          <ac:spMkLst>
            <pc:docMk/>
            <pc:sldMk cId="3483485046" sldId="266"/>
            <ac:spMk id="5" creationId="{7878730B-C786-1225-6E6C-BC927A711754}"/>
          </ac:spMkLst>
        </pc:spChg>
        <pc:spChg chg="add mod">
          <ac:chgData name="Sandhya S" userId="c8502fb30bfb858f" providerId="LiveId" clId="{969269AE-7CAD-4315-9F0F-0C843EF59B5F}" dt="2026-05-03T12:58:15.440" v="9" actId="1076"/>
          <ac:spMkLst>
            <pc:docMk/>
            <pc:sldMk cId="3483485046" sldId="266"/>
            <ac:spMk id="7" creationId="{2A1EF009-3122-FC7A-283A-982C7962BB96}"/>
          </ac:spMkLst>
        </pc:spChg>
        <pc:spChg chg="add mod">
          <ac:chgData name="Sandhya S" userId="c8502fb30bfb858f" providerId="LiveId" clId="{969269AE-7CAD-4315-9F0F-0C843EF59B5F}" dt="2026-05-03T13:02:54.740" v="31"/>
          <ac:spMkLst>
            <pc:docMk/>
            <pc:sldMk cId="3483485046" sldId="266"/>
            <ac:spMk id="9" creationId="{E1FEFD4E-4901-3743-E0DF-C0E6642D748C}"/>
          </ac:spMkLst>
        </pc:spChg>
      </pc:sldChg>
      <pc:sldChg chg="addSp delSp modSp new mod">
        <pc:chgData name="Sandhya S" userId="c8502fb30bfb858f" providerId="LiveId" clId="{969269AE-7CAD-4315-9F0F-0C843EF59B5F}" dt="2026-05-03T13:08:17.711" v="89"/>
        <pc:sldMkLst>
          <pc:docMk/>
          <pc:sldMk cId="335559167" sldId="267"/>
        </pc:sldMkLst>
        <pc:spChg chg="add mod">
          <ac:chgData name="Sandhya S" userId="c8502fb30bfb858f" providerId="LiveId" clId="{969269AE-7CAD-4315-9F0F-0C843EF59B5F}" dt="2026-05-03T13:04:57.212" v="39" actId="20577"/>
          <ac:spMkLst>
            <pc:docMk/>
            <pc:sldMk cId="335559167" sldId="267"/>
            <ac:spMk id="3" creationId="{F7FC88DD-4316-0ECA-AD02-5DA24006AF29}"/>
          </ac:spMkLst>
        </pc:spChg>
        <pc:spChg chg="add mod">
          <ac:chgData name="Sandhya S" userId="c8502fb30bfb858f" providerId="LiveId" clId="{969269AE-7CAD-4315-9F0F-0C843EF59B5F}" dt="2026-05-03T13:08:13.297" v="85" actId="1076"/>
          <ac:spMkLst>
            <pc:docMk/>
            <pc:sldMk cId="335559167" sldId="267"/>
            <ac:spMk id="5" creationId="{0213945F-7628-3C14-6B86-A1686C43229E}"/>
          </ac:spMkLst>
        </pc:spChg>
        <pc:spChg chg="add del mod">
          <ac:chgData name="Sandhya S" userId="c8502fb30bfb858f" providerId="LiveId" clId="{969269AE-7CAD-4315-9F0F-0C843EF59B5F}" dt="2026-05-03T13:08:17.711" v="89"/>
          <ac:spMkLst>
            <pc:docMk/>
            <pc:sldMk cId="335559167" sldId="267"/>
            <ac:spMk id="6" creationId="{24D77D14-0C2D-FDBF-88DF-D2FA5A144F0B}"/>
          </ac:spMkLst>
        </pc:spChg>
      </pc:sldChg>
      <pc:sldChg chg="addSp modSp new mod">
        <pc:chgData name="Sandhya S" userId="c8502fb30bfb858f" providerId="LiveId" clId="{969269AE-7CAD-4315-9F0F-0C843EF59B5F}" dt="2026-05-03T13:09:05.937" v="113" actId="1076"/>
        <pc:sldMkLst>
          <pc:docMk/>
          <pc:sldMk cId="2707968876" sldId="268"/>
        </pc:sldMkLst>
        <pc:spChg chg="add mod">
          <ac:chgData name="Sandhya S" userId="c8502fb30bfb858f" providerId="LiveId" clId="{969269AE-7CAD-4315-9F0F-0C843EF59B5F}" dt="2026-05-03T13:09:05.937" v="113" actId="1076"/>
          <ac:spMkLst>
            <pc:docMk/>
            <pc:sldMk cId="2707968876" sldId="268"/>
            <ac:spMk id="2" creationId="{1C757169-0A17-BA58-FDD9-40535246CC2D}"/>
          </ac:spMkLst>
        </pc:spChg>
      </pc:sldChg>
      <pc:sldChg chg="addSp modSp new mod">
        <pc:chgData name="Sandhya S" userId="c8502fb30bfb858f" providerId="LiveId" clId="{969269AE-7CAD-4315-9F0F-0C843EF59B5F}" dt="2026-05-03T13:15:20.359" v="148" actId="1076"/>
        <pc:sldMkLst>
          <pc:docMk/>
          <pc:sldMk cId="3409711276" sldId="269"/>
        </pc:sldMkLst>
        <pc:spChg chg="add mod">
          <ac:chgData name="Sandhya S" userId="c8502fb30bfb858f" providerId="LiveId" clId="{969269AE-7CAD-4315-9F0F-0C843EF59B5F}" dt="2026-05-03T13:15:20.359" v="148" actId="1076"/>
          <ac:spMkLst>
            <pc:docMk/>
            <pc:sldMk cId="3409711276" sldId="269"/>
            <ac:spMk id="3" creationId="{E40AEBA0-3EF9-AE96-C935-3CAA615839C2}"/>
          </ac:spMkLst>
        </pc:spChg>
        <pc:spChg chg="add mod">
          <ac:chgData name="Sandhya S" userId="c8502fb30bfb858f" providerId="LiveId" clId="{969269AE-7CAD-4315-9F0F-0C843EF59B5F}" dt="2026-05-03T13:15:11.706" v="147" actId="1076"/>
          <ac:spMkLst>
            <pc:docMk/>
            <pc:sldMk cId="3409711276" sldId="269"/>
            <ac:spMk id="4" creationId="{8AA65CAB-EE85-4BB1-A6A3-EBF4918CF862}"/>
          </ac:spMkLst>
        </pc:spChg>
      </pc:sldChg>
      <pc:sldChg chg="addSp modSp new mod">
        <pc:chgData name="Sandhya S" userId="c8502fb30bfb858f" providerId="LiveId" clId="{969269AE-7CAD-4315-9F0F-0C843EF59B5F}" dt="2026-05-03T13:27:13.794" v="194"/>
        <pc:sldMkLst>
          <pc:docMk/>
          <pc:sldMk cId="2908546118" sldId="270"/>
        </pc:sldMkLst>
        <pc:spChg chg="add mod">
          <ac:chgData name="Sandhya S" userId="c8502fb30bfb858f" providerId="LiveId" clId="{969269AE-7CAD-4315-9F0F-0C843EF59B5F}" dt="2026-05-03T13:27:13.794" v="194"/>
          <ac:spMkLst>
            <pc:docMk/>
            <pc:sldMk cId="2908546118" sldId="270"/>
            <ac:spMk id="4" creationId="{45AE84FF-2118-3589-2F6D-E29372CBE711}"/>
          </ac:spMkLst>
        </pc:spChg>
        <pc:picChg chg="add mod">
          <ac:chgData name="Sandhya S" userId="c8502fb30bfb858f" providerId="LiveId" clId="{969269AE-7CAD-4315-9F0F-0C843EF59B5F}" dt="2026-05-03T13:18:43.679" v="157" actId="1076"/>
          <ac:picMkLst>
            <pc:docMk/>
            <pc:sldMk cId="2908546118" sldId="270"/>
            <ac:picMk id="2" creationId="{E260E778-1EFB-418D-7926-74EFDE1756A4}"/>
          </ac:picMkLst>
        </pc:picChg>
      </pc:sldChg>
      <pc:sldChg chg="addSp modSp new mod">
        <pc:chgData name="Sandhya S" userId="c8502fb30bfb858f" providerId="LiveId" clId="{969269AE-7CAD-4315-9F0F-0C843EF59B5F}" dt="2026-05-04T14:23:36.532" v="263" actId="1076"/>
        <pc:sldMkLst>
          <pc:docMk/>
          <pc:sldMk cId="3006053453" sldId="271"/>
        </pc:sldMkLst>
        <pc:spChg chg="add mod">
          <ac:chgData name="Sandhya S" userId="c8502fb30bfb858f" providerId="LiveId" clId="{969269AE-7CAD-4315-9F0F-0C843EF59B5F}" dt="2026-05-04T14:23:06.268" v="252" actId="1076"/>
          <ac:spMkLst>
            <pc:docMk/>
            <pc:sldMk cId="3006053453" sldId="271"/>
            <ac:spMk id="2" creationId="{EA7EB830-80CE-2246-F2A7-206FF5F092ED}"/>
          </ac:spMkLst>
        </pc:spChg>
        <pc:spChg chg="add mod">
          <ac:chgData name="Sandhya S" userId="c8502fb30bfb858f" providerId="LiveId" clId="{969269AE-7CAD-4315-9F0F-0C843EF59B5F}" dt="2026-05-04T14:23:36.532" v="263" actId="1076"/>
          <ac:spMkLst>
            <pc:docMk/>
            <pc:sldMk cId="3006053453" sldId="271"/>
            <ac:spMk id="4" creationId="{9C926C84-BFA8-8E05-6BE7-7AF0D231465C}"/>
          </ac:spMkLst>
        </pc:spChg>
      </pc:sldChg>
      <pc:sldChg chg="addSp modSp new mod">
        <pc:chgData name="Sandhya S" userId="c8502fb30bfb858f" providerId="LiveId" clId="{969269AE-7CAD-4315-9F0F-0C843EF59B5F}" dt="2026-05-04T14:33:23.084" v="405" actId="20577"/>
        <pc:sldMkLst>
          <pc:docMk/>
          <pc:sldMk cId="1102778311" sldId="272"/>
        </pc:sldMkLst>
        <pc:spChg chg="add mod">
          <ac:chgData name="Sandhya S" userId="c8502fb30bfb858f" providerId="LiveId" clId="{969269AE-7CAD-4315-9F0F-0C843EF59B5F}" dt="2026-05-04T14:33:23.084" v="405" actId="20577"/>
          <ac:spMkLst>
            <pc:docMk/>
            <pc:sldMk cId="1102778311" sldId="272"/>
            <ac:spMk id="4" creationId="{197924F4-3040-D795-460D-D6C6A0588A86}"/>
          </ac:spMkLst>
        </pc:spChg>
        <pc:spChg chg="add">
          <ac:chgData name="Sandhya S" userId="c8502fb30bfb858f" providerId="LiveId" clId="{969269AE-7CAD-4315-9F0F-0C843EF59B5F}" dt="2026-05-04T14:25:58.090" v="274"/>
          <ac:spMkLst>
            <pc:docMk/>
            <pc:sldMk cId="1102778311" sldId="272"/>
            <ac:spMk id="5" creationId="{F826A54C-C653-2642-43A9-37D385E69E31}"/>
          </ac:spMkLst>
        </pc:spChg>
        <pc:spChg chg="add">
          <ac:chgData name="Sandhya S" userId="c8502fb30bfb858f" providerId="LiveId" clId="{969269AE-7CAD-4315-9F0F-0C843EF59B5F}" dt="2026-05-04T14:26:36.264" v="275"/>
          <ac:spMkLst>
            <pc:docMk/>
            <pc:sldMk cId="1102778311" sldId="272"/>
            <ac:spMk id="6" creationId="{454A30BA-D39C-D440-630C-805C06E975CC}"/>
          </ac:spMkLst>
        </pc:spChg>
        <pc:spChg chg="add mod">
          <ac:chgData name="Sandhya S" userId="c8502fb30bfb858f" providerId="LiveId" clId="{969269AE-7CAD-4315-9F0F-0C843EF59B5F}" dt="2026-05-04T14:27:05.712" v="339" actId="5793"/>
          <ac:spMkLst>
            <pc:docMk/>
            <pc:sldMk cId="1102778311" sldId="272"/>
            <ac:spMk id="7" creationId="{7C52ACFA-61A6-BFD2-8EE7-178C7C63759F}"/>
          </ac:spMkLst>
        </pc:spChg>
        <pc:picChg chg="add mod">
          <ac:chgData name="Sandhya S" userId="c8502fb30bfb858f" providerId="LiveId" clId="{969269AE-7CAD-4315-9F0F-0C843EF59B5F}" dt="2026-05-04T14:30:43.854" v="368" actId="1076"/>
          <ac:picMkLst>
            <pc:docMk/>
            <pc:sldMk cId="1102778311" sldId="272"/>
            <ac:picMk id="2" creationId="{D797CCFB-45A0-342D-BF1D-9CD2E369EF3E}"/>
          </ac:picMkLst>
        </pc:picChg>
      </pc:sldChg>
      <pc:sldChg chg="addSp modSp new mod">
        <pc:chgData name="Sandhya S" userId="c8502fb30bfb858f" providerId="LiveId" clId="{969269AE-7CAD-4315-9F0F-0C843EF59B5F}" dt="2026-05-04T14:32:54.566" v="394" actId="1076"/>
        <pc:sldMkLst>
          <pc:docMk/>
          <pc:sldMk cId="2116466709" sldId="273"/>
        </pc:sldMkLst>
        <pc:spChg chg="add mod">
          <ac:chgData name="Sandhya S" userId="c8502fb30bfb858f" providerId="LiveId" clId="{969269AE-7CAD-4315-9F0F-0C843EF59B5F}" dt="2026-05-04T14:32:54.566" v="394" actId="1076"/>
          <ac:spMkLst>
            <pc:docMk/>
            <pc:sldMk cId="2116466709" sldId="273"/>
            <ac:spMk id="3" creationId="{7CFE1C34-D155-D59D-4AD9-E603728A0D1C}"/>
          </ac:spMkLst>
        </pc:spChg>
        <pc:spChg chg="add mod">
          <ac:chgData name="Sandhya S" userId="c8502fb30bfb858f" providerId="LiveId" clId="{969269AE-7CAD-4315-9F0F-0C843EF59B5F}" dt="2026-05-04T14:32:50.480" v="393" actId="1076"/>
          <ac:spMkLst>
            <pc:docMk/>
            <pc:sldMk cId="2116466709" sldId="273"/>
            <ac:spMk id="5" creationId="{BE4092A8-2F9D-7EDA-944C-136AB8C3CC6B}"/>
          </ac:spMkLst>
        </pc:spChg>
      </pc:sldChg>
      <pc:sldChg chg="addSp modSp new mod">
        <pc:chgData name="Sandhya S" userId="c8502fb30bfb858f" providerId="LiveId" clId="{969269AE-7CAD-4315-9F0F-0C843EF59B5F}" dt="2026-05-04T14:40:25.820" v="434" actId="20577"/>
        <pc:sldMkLst>
          <pc:docMk/>
          <pc:sldMk cId="1343024167" sldId="274"/>
        </pc:sldMkLst>
        <pc:spChg chg="add mod">
          <ac:chgData name="Sandhya S" userId="c8502fb30bfb858f" providerId="LiveId" clId="{969269AE-7CAD-4315-9F0F-0C843EF59B5F}" dt="2026-05-04T14:40:25.820" v="434" actId="20577"/>
          <ac:spMkLst>
            <pc:docMk/>
            <pc:sldMk cId="1343024167" sldId="274"/>
            <ac:spMk id="4" creationId="{8F11786C-19F2-1FB7-24B6-12DADF77CF0C}"/>
          </ac:spMkLst>
        </pc:spChg>
        <pc:picChg chg="add mod">
          <ac:chgData name="Sandhya S" userId="c8502fb30bfb858f" providerId="LiveId" clId="{969269AE-7CAD-4315-9F0F-0C843EF59B5F}" dt="2026-05-04T14:33:50.967" v="409" actId="1076"/>
          <ac:picMkLst>
            <pc:docMk/>
            <pc:sldMk cId="1343024167" sldId="274"/>
            <ac:picMk id="2" creationId="{4B0F13D4-11EF-B0B5-BCEC-BA805C5A0DE4}"/>
          </ac:picMkLst>
        </pc:picChg>
      </pc:sldChg>
      <pc:sldChg chg="addSp modSp new mod">
        <pc:chgData name="Sandhya S" userId="c8502fb30bfb858f" providerId="LiveId" clId="{969269AE-7CAD-4315-9F0F-0C843EF59B5F}" dt="2026-05-04T14:40:50.624" v="440" actId="1076"/>
        <pc:sldMkLst>
          <pc:docMk/>
          <pc:sldMk cId="86375883" sldId="275"/>
        </pc:sldMkLst>
        <pc:spChg chg="add mod">
          <ac:chgData name="Sandhya S" userId="c8502fb30bfb858f" providerId="LiveId" clId="{969269AE-7CAD-4315-9F0F-0C843EF59B5F}" dt="2026-05-04T14:40:50.624" v="440" actId="1076"/>
          <ac:spMkLst>
            <pc:docMk/>
            <pc:sldMk cId="86375883" sldId="275"/>
            <ac:spMk id="3" creationId="{8D24D33F-E18F-3003-144C-85246C08A02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36EAD5-DDD6-4B5C-8622-8726BE4BABE0}"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999937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36EAD5-DDD6-4B5C-8622-8726BE4BABE0}"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254391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36EAD5-DDD6-4B5C-8622-8726BE4BABE0}"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1968239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36EAD5-DDD6-4B5C-8622-8726BE4BABE0}"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1519777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36EAD5-DDD6-4B5C-8622-8726BE4BABE0}" type="datetimeFigureOut">
              <a:rPr lang="en-IN" smtClean="0"/>
              <a:t>07-05-2026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123638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36EAD5-DDD6-4B5C-8622-8726BE4BABE0}" type="datetimeFigureOut">
              <a:rPr lang="en-IN" smtClean="0"/>
              <a:t>07-05-2026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209834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36EAD5-DDD6-4B5C-8622-8726BE4BABE0}" type="datetimeFigureOut">
              <a:rPr lang="en-IN" smtClean="0"/>
              <a:t>07-05-2026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51142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6EAD5-DDD6-4B5C-8622-8726BE4BABE0}"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2664838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6EAD5-DDD6-4B5C-8622-8726BE4BABE0}"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2560520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6EAD5-DDD6-4B5C-8622-8726BE4BABE0}"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2905531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6EAD5-DDD6-4B5C-8622-8726BE4BABE0}"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4068644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6EAD5-DDD6-4B5C-8622-8726BE4BABE0}"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067D6-CD23-4355-8BB8-926F5C9CBD5C}"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94215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6EAD5-DDD6-4B5C-8622-8726BE4BABE0}"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3741020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936EAD5-DDD6-4B5C-8622-8726BE4BABE0}" type="datetimeFigureOut">
              <a:rPr lang="en-IN" smtClean="0"/>
              <a:t>07-05-2026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2263771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936EAD5-DDD6-4B5C-8622-8726BE4BABE0}" type="datetimeFigureOut">
              <a:rPr lang="en-IN" smtClean="0"/>
              <a:t>07-05-2026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2843359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36EAD5-DDD6-4B5C-8622-8726BE4BABE0}"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2391675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36EAD5-DDD6-4B5C-8622-8726BE4BABE0}"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4067D6-CD23-4355-8BB8-926F5C9CBD5C}" type="slidenum">
              <a:rPr lang="en-IN" smtClean="0"/>
              <a:t>‹#›</a:t>
            </a:fld>
            <a:endParaRPr lang="en-IN"/>
          </a:p>
        </p:txBody>
      </p:sp>
    </p:spTree>
    <p:extLst>
      <p:ext uri="{BB962C8B-B14F-4D97-AF65-F5344CB8AC3E}">
        <p14:creationId xmlns:p14="http://schemas.microsoft.com/office/powerpoint/2010/main" val="657280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936EAD5-DDD6-4B5C-8622-8726BE4BABE0}" type="datetimeFigureOut">
              <a:rPr lang="en-IN" smtClean="0"/>
              <a:t>07-05-2026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24067D6-CD23-4355-8BB8-926F5C9CBD5C}" type="slidenum">
              <a:rPr lang="en-IN" smtClean="0"/>
              <a:t>‹#›</a:t>
            </a:fld>
            <a:endParaRPr lang="en-IN"/>
          </a:p>
        </p:txBody>
      </p:sp>
    </p:spTree>
    <p:extLst>
      <p:ext uri="{BB962C8B-B14F-4D97-AF65-F5344CB8AC3E}">
        <p14:creationId xmlns:p14="http://schemas.microsoft.com/office/powerpoint/2010/main" val="140061426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1E0913-A395-F815-B3D2-ACE99FFDC6EA}"/>
              </a:ext>
            </a:extLst>
          </p:cNvPr>
          <p:cNvSpPr txBox="1"/>
          <p:nvPr/>
        </p:nvSpPr>
        <p:spPr>
          <a:xfrm>
            <a:off x="1602657" y="2844225"/>
            <a:ext cx="10245214" cy="584775"/>
          </a:xfrm>
          <a:prstGeom prst="rect">
            <a:avLst/>
          </a:prstGeom>
          <a:noFill/>
        </p:spPr>
        <p:txBody>
          <a:bodyPr wrap="square">
            <a:spAutoFit/>
          </a:bodyPr>
          <a:lstStyle/>
          <a:p>
            <a:r>
              <a:rPr lang="en-IN" sz="3200" b="1" dirty="0">
                <a:latin typeface="Algerian" panose="04020705040A02060702" pitchFamily="82" charset="0"/>
              </a:rPr>
              <a:t>STUDENT PLACEMENT ANALYSIS USING POWER BI </a:t>
            </a:r>
            <a:endParaRPr lang="en-IN" sz="3200" dirty="0">
              <a:latin typeface="Algerian" panose="04020705040A02060702" pitchFamily="82" charset="0"/>
            </a:endParaRPr>
          </a:p>
        </p:txBody>
      </p:sp>
    </p:spTree>
    <p:extLst>
      <p:ext uri="{BB962C8B-B14F-4D97-AF65-F5344CB8AC3E}">
        <p14:creationId xmlns:p14="http://schemas.microsoft.com/office/powerpoint/2010/main" val="1446970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9AF918-EA20-072A-AC1C-2C6D845CFA4B}"/>
              </a:ext>
            </a:extLst>
          </p:cNvPr>
          <p:cNvSpPr txBox="1"/>
          <p:nvPr/>
        </p:nvSpPr>
        <p:spPr>
          <a:xfrm>
            <a:off x="904568" y="1838633"/>
            <a:ext cx="2417650" cy="461665"/>
          </a:xfrm>
          <a:prstGeom prst="rect">
            <a:avLst/>
          </a:prstGeom>
          <a:noFill/>
        </p:spPr>
        <p:txBody>
          <a:bodyPr wrap="none" rtlCol="0">
            <a:spAutoFit/>
          </a:bodyPr>
          <a:lstStyle/>
          <a:p>
            <a:r>
              <a:rPr lang="en-IN" sz="2400" b="1" dirty="0">
                <a:latin typeface="Algerian" panose="04020705040A02060702" pitchFamily="82" charset="0"/>
              </a:rPr>
              <a:t>INTRODUCTION</a:t>
            </a:r>
            <a:r>
              <a:rPr lang="en-IN" sz="2400" b="1" dirty="0"/>
              <a:t> :</a:t>
            </a:r>
          </a:p>
        </p:txBody>
      </p:sp>
      <p:sp>
        <p:nvSpPr>
          <p:cNvPr id="3" name="TextBox 2">
            <a:extLst>
              <a:ext uri="{FF2B5EF4-FFF2-40B4-BE49-F238E27FC236}">
                <a16:creationId xmlns:a16="http://schemas.microsoft.com/office/drawing/2014/main" id="{36EB89D2-BCC4-9157-1735-D6535F4AB12D}"/>
              </a:ext>
            </a:extLst>
          </p:cNvPr>
          <p:cNvSpPr txBox="1"/>
          <p:nvPr/>
        </p:nvSpPr>
        <p:spPr>
          <a:xfrm>
            <a:off x="1765226" y="2621086"/>
            <a:ext cx="9941376" cy="1615827"/>
          </a:xfrm>
          <a:prstGeom prst="rect">
            <a:avLst/>
          </a:prstGeom>
          <a:noFill/>
        </p:spPr>
        <p:txBody>
          <a:bodyPr wrap="none" rtlCol="0">
            <a:spAutoFit/>
          </a:bodyPr>
          <a:lstStyle/>
          <a:p>
            <a:pPr algn="just">
              <a:lnSpc>
                <a:spcPct val="150000"/>
              </a:lnSpc>
            </a:pPr>
            <a:r>
              <a:rPr lang="en-US" dirty="0"/>
              <a:t> “This project focuses on student placement analysis using Power BI. It helps identify how </a:t>
            </a:r>
          </a:p>
          <a:p>
            <a:pPr algn="just">
              <a:lnSpc>
                <a:spcPct val="150000"/>
              </a:lnSpc>
            </a:pPr>
            <a:r>
              <a:rPr lang="en-US" dirty="0"/>
              <a:t>   academics, skills, and experience affect placements, and provides insights to improve </a:t>
            </a:r>
          </a:p>
          <a:p>
            <a:pPr algn="just">
              <a:lnSpc>
                <a:spcPct val="150000"/>
              </a:lnSpc>
            </a:pPr>
            <a:r>
              <a:rPr lang="en-US" dirty="0"/>
              <a:t>   placement rates.”</a:t>
            </a:r>
          </a:p>
          <a:p>
            <a:endParaRPr lang="en-IN" dirty="0"/>
          </a:p>
        </p:txBody>
      </p:sp>
    </p:spTree>
    <p:extLst>
      <p:ext uri="{BB962C8B-B14F-4D97-AF65-F5344CB8AC3E}">
        <p14:creationId xmlns:p14="http://schemas.microsoft.com/office/powerpoint/2010/main" val="37681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BF9508-69CF-F322-8A01-D0BE0824BF72}"/>
              </a:ext>
            </a:extLst>
          </p:cNvPr>
          <p:cNvSpPr txBox="1"/>
          <p:nvPr/>
        </p:nvSpPr>
        <p:spPr>
          <a:xfrm>
            <a:off x="953729" y="1270509"/>
            <a:ext cx="6096000" cy="461665"/>
          </a:xfrm>
          <a:prstGeom prst="rect">
            <a:avLst/>
          </a:prstGeom>
          <a:noFill/>
        </p:spPr>
        <p:txBody>
          <a:bodyPr wrap="square">
            <a:spAutoFit/>
          </a:bodyPr>
          <a:lstStyle/>
          <a:p>
            <a:r>
              <a:rPr lang="en-IN" sz="2400" dirty="0">
                <a:latin typeface="Algerian" panose="04020705040A02060702" pitchFamily="82" charset="0"/>
              </a:rPr>
              <a:t>About the Dataset :</a:t>
            </a:r>
          </a:p>
        </p:txBody>
      </p:sp>
      <p:sp>
        <p:nvSpPr>
          <p:cNvPr id="5" name="TextBox 4">
            <a:extLst>
              <a:ext uri="{FF2B5EF4-FFF2-40B4-BE49-F238E27FC236}">
                <a16:creationId xmlns:a16="http://schemas.microsoft.com/office/drawing/2014/main" id="{49315606-9858-A9BD-3C67-0FFD28780C7A}"/>
              </a:ext>
            </a:extLst>
          </p:cNvPr>
          <p:cNvSpPr txBox="1"/>
          <p:nvPr/>
        </p:nvSpPr>
        <p:spPr>
          <a:xfrm>
            <a:off x="2399071" y="2010978"/>
            <a:ext cx="9694606" cy="3366371"/>
          </a:xfrm>
          <a:prstGeom prst="rect">
            <a:avLst/>
          </a:prstGeom>
          <a:noFill/>
        </p:spPr>
        <p:txBody>
          <a:bodyPr wrap="square">
            <a:spAutoFit/>
          </a:bodyPr>
          <a:lstStyle/>
          <a:p>
            <a:pPr algn="just">
              <a:lnSpc>
                <a:spcPct val="150000"/>
              </a:lnSpc>
              <a:buNone/>
            </a:pPr>
            <a:r>
              <a:rPr lang="en-US" dirty="0"/>
              <a:t>The dataset contains student-related information such as:</a:t>
            </a:r>
          </a:p>
          <a:p>
            <a:pPr algn="just">
              <a:lnSpc>
                <a:spcPct val="150000"/>
              </a:lnSpc>
              <a:buFont typeface="Arial" panose="020B0604020202020204" pitchFamily="34" charset="0"/>
              <a:buChar char="•"/>
            </a:pPr>
            <a:r>
              <a:rPr lang="en-US" dirty="0"/>
              <a:t> Academic details – CGPA and backlogs </a:t>
            </a:r>
          </a:p>
          <a:p>
            <a:pPr algn="just">
              <a:lnSpc>
                <a:spcPct val="150000"/>
              </a:lnSpc>
              <a:buFont typeface="Arial" panose="020B0604020202020204" pitchFamily="34" charset="0"/>
              <a:buChar char="•"/>
            </a:pPr>
            <a:r>
              <a:rPr lang="en-US" dirty="0"/>
              <a:t> Skills – coding, aptitude, communication, soft skills </a:t>
            </a:r>
          </a:p>
          <a:p>
            <a:pPr algn="just">
              <a:lnSpc>
                <a:spcPct val="150000"/>
              </a:lnSpc>
              <a:buFont typeface="Arial" panose="020B0604020202020204" pitchFamily="34" charset="0"/>
              <a:buChar char="•"/>
            </a:pPr>
            <a:r>
              <a:rPr lang="en-US" dirty="0"/>
              <a:t> Experience – internships, projects, certifications </a:t>
            </a:r>
          </a:p>
          <a:p>
            <a:pPr algn="just">
              <a:lnSpc>
                <a:spcPct val="150000"/>
              </a:lnSpc>
              <a:buFont typeface="Arial" panose="020B0604020202020204" pitchFamily="34" charset="0"/>
              <a:buChar char="•"/>
            </a:pPr>
            <a:r>
              <a:rPr lang="en-US" dirty="0"/>
              <a:t> Placement status – placed or not placed </a:t>
            </a:r>
          </a:p>
          <a:p>
            <a:pPr algn="just">
              <a:lnSpc>
                <a:spcPct val="150000"/>
              </a:lnSpc>
              <a:buFont typeface="Arial" panose="020B0604020202020204" pitchFamily="34" charset="0"/>
              <a:buChar char="•"/>
            </a:pPr>
            <a:r>
              <a:rPr lang="en-US" dirty="0"/>
              <a:t> Demographic details – gender and branch </a:t>
            </a:r>
          </a:p>
          <a:p>
            <a:pPr algn="just">
              <a:lnSpc>
                <a:spcPct val="150000"/>
              </a:lnSpc>
              <a:buNone/>
            </a:pPr>
            <a:r>
              <a:rPr lang="en-US" dirty="0"/>
              <a:t>This dataset helps in understanding the relationship between student profiles and placement outcomes.</a:t>
            </a:r>
          </a:p>
        </p:txBody>
      </p:sp>
    </p:spTree>
    <p:extLst>
      <p:ext uri="{BB962C8B-B14F-4D97-AF65-F5344CB8AC3E}">
        <p14:creationId xmlns:p14="http://schemas.microsoft.com/office/powerpoint/2010/main" val="3141565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C58B7D-3FC7-0460-86AE-665FB84D8D3C}"/>
              </a:ext>
            </a:extLst>
          </p:cNvPr>
          <p:cNvSpPr txBox="1"/>
          <p:nvPr/>
        </p:nvSpPr>
        <p:spPr>
          <a:xfrm>
            <a:off x="835742" y="1231179"/>
            <a:ext cx="6096000" cy="461665"/>
          </a:xfrm>
          <a:prstGeom prst="rect">
            <a:avLst/>
          </a:prstGeom>
          <a:noFill/>
        </p:spPr>
        <p:txBody>
          <a:bodyPr wrap="square">
            <a:spAutoFit/>
          </a:bodyPr>
          <a:lstStyle/>
          <a:p>
            <a:r>
              <a:rPr lang="en-IN" sz="2400" dirty="0">
                <a:latin typeface="Algerian" panose="04020705040A02060702" pitchFamily="82" charset="0"/>
              </a:rPr>
              <a:t>Objective of the Project :</a:t>
            </a:r>
          </a:p>
        </p:txBody>
      </p:sp>
      <p:sp>
        <p:nvSpPr>
          <p:cNvPr id="5" name="TextBox 4">
            <a:extLst>
              <a:ext uri="{FF2B5EF4-FFF2-40B4-BE49-F238E27FC236}">
                <a16:creationId xmlns:a16="http://schemas.microsoft.com/office/drawing/2014/main" id="{4F5642D2-2460-8C4A-08BC-34054DD9E36A}"/>
              </a:ext>
            </a:extLst>
          </p:cNvPr>
          <p:cNvSpPr txBox="1"/>
          <p:nvPr/>
        </p:nvSpPr>
        <p:spPr>
          <a:xfrm>
            <a:off x="3500284" y="1911806"/>
            <a:ext cx="6096000" cy="4197367"/>
          </a:xfrm>
          <a:prstGeom prst="rect">
            <a:avLst/>
          </a:prstGeom>
          <a:noFill/>
        </p:spPr>
        <p:txBody>
          <a:bodyPr wrap="square">
            <a:spAutoFit/>
          </a:bodyPr>
          <a:lstStyle/>
          <a:p>
            <a:pPr algn="just">
              <a:lnSpc>
                <a:spcPct val="150000"/>
              </a:lnSpc>
              <a:buNone/>
            </a:pPr>
            <a:r>
              <a:rPr lang="en-US" dirty="0"/>
              <a:t>The main objectives of this project are:</a:t>
            </a:r>
          </a:p>
          <a:p>
            <a:pPr algn="just">
              <a:lnSpc>
                <a:spcPct val="150000"/>
              </a:lnSpc>
              <a:buFont typeface="Arial" panose="020B0604020202020204" pitchFamily="34" charset="0"/>
              <a:buChar char="•"/>
            </a:pPr>
            <a:r>
              <a:rPr lang="en-US" dirty="0"/>
              <a:t> To analyze the overall placement performance </a:t>
            </a:r>
          </a:p>
          <a:p>
            <a:pPr algn="just">
              <a:lnSpc>
                <a:spcPct val="150000"/>
              </a:lnSpc>
              <a:buFont typeface="Arial" panose="020B0604020202020204" pitchFamily="34" charset="0"/>
              <a:buChar char="•"/>
            </a:pPr>
            <a:r>
              <a:rPr lang="en-US" dirty="0"/>
              <a:t> To understand the impact of CGPA, backlogs, and            academics </a:t>
            </a:r>
          </a:p>
          <a:p>
            <a:pPr algn="just">
              <a:lnSpc>
                <a:spcPct val="150000"/>
              </a:lnSpc>
              <a:buFont typeface="Arial" panose="020B0604020202020204" pitchFamily="34" charset="0"/>
              <a:buChar char="•"/>
            </a:pPr>
            <a:r>
              <a:rPr lang="en-US" dirty="0"/>
              <a:t> To study the role of internships, projects, and certifications </a:t>
            </a:r>
          </a:p>
          <a:p>
            <a:pPr algn="just">
              <a:lnSpc>
                <a:spcPct val="150000"/>
              </a:lnSpc>
              <a:buFont typeface="Arial" panose="020B0604020202020204" pitchFamily="34" charset="0"/>
              <a:buChar char="•"/>
            </a:pPr>
            <a:r>
              <a:rPr lang="en-US" dirty="0"/>
              <a:t> To evaluate the importance of coding, aptitude, and communication skills </a:t>
            </a:r>
          </a:p>
          <a:p>
            <a:pPr algn="just">
              <a:lnSpc>
                <a:spcPct val="150000"/>
              </a:lnSpc>
              <a:buFont typeface="Arial" panose="020B0604020202020204" pitchFamily="34" charset="0"/>
              <a:buChar char="•"/>
            </a:pPr>
            <a:r>
              <a:rPr lang="en-US" dirty="0"/>
              <a:t> To provide recommendations to improve placement rates </a:t>
            </a:r>
          </a:p>
        </p:txBody>
      </p:sp>
    </p:spTree>
    <p:extLst>
      <p:ext uri="{BB962C8B-B14F-4D97-AF65-F5344CB8AC3E}">
        <p14:creationId xmlns:p14="http://schemas.microsoft.com/office/powerpoint/2010/main" val="2687485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CA9E44-36AB-4A7E-201C-4A169CDDB6CB}"/>
              </a:ext>
            </a:extLst>
          </p:cNvPr>
          <p:cNvSpPr txBox="1"/>
          <p:nvPr/>
        </p:nvSpPr>
        <p:spPr>
          <a:xfrm>
            <a:off x="403122" y="2017761"/>
            <a:ext cx="6096000" cy="461665"/>
          </a:xfrm>
          <a:prstGeom prst="rect">
            <a:avLst/>
          </a:prstGeom>
          <a:noFill/>
        </p:spPr>
        <p:txBody>
          <a:bodyPr wrap="square">
            <a:spAutoFit/>
          </a:bodyPr>
          <a:lstStyle/>
          <a:p>
            <a:r>
              <a:rPr lang="en-US" sz="2400" dirty="0">
                <a:latin typeface="Algerian" panose="04020705040A02060702" pitchFamily="82" charset="0"/>
              </a:rPr>
              <a:t>What Analysis I Did Using This Data :</a:t>
            </a:r>
            <a:endParaRPr lang="en-IN" sz="2400" dirty="0">
              <a:latin typeface="Algerian" panose="04020705040A02060702" pitchFamily="82" charset="0"/>
            </a:endParaRPr>
          </a:p>
        </p:txBody>
      </p:sp>
      <p:sp>
        <p:nvSpPr>
          <p:cNvPr id="5" name="TextBox 4">
            <a:extLst>
              <a:ext uri="{FF2B5EF4-FFF2-40B4-BE49-F238E27FC236}">
                <a16:creationId xmlns:a16="http://schemas.microsoft.com/office/drawing/2014/main" id="{53F104BA-DD1E-D194-46F5-54B39B807DBC}"/>
              </a:ext>
            </a:extLst>
          </p:cNvPr>
          <p:cNvSpPr txBox="1"/>
          <p:nvPr/>
        </p:nvSpPr>
        <p:spPr>
          <a:xfrm>
            <a:off x="1838630" y="2828835"/>
            <a:ext cx="10264877" cy="1200329"/>
          </a:xfrm>
          <a:prstGeom prst="rect">
            <a:avLst/>
          </a:prstGeom>
          <a:noFill/>
        </p:spPr>
        <p:txBody>
          <a:bodyPr wrap="square">
            <a:spAutoFit/>
          </a:bodyPr>
          <a:lstStyle/>
          <a:p>
            <a:pPr algn="just">
              <a:lnSpc>
                <a:spcPct val="150000"/>
              </a:lnSpc>
            </a:pPr>
            <a:r>
              <a:rPr lang="en-US" dirty="0"/>
              <a:t>Using this dataset, I performed exploratory and business analysis to identify key placement drivers. I analyzed these factors to identify what improves or reduces placement chances.</a:t>
            </a:r>
          </a:p>
          <a:p>
            <a:endParaRPr lang="en-US" dirty="0"/>
          </a:p>
        </p:txBody>
      </p:sp>
    </p:spTree>
    <p:extLst>
      <p:ext uri="{BB962C8B-B14F-4D97-AF65-F5344CB8AC3E}">
        <p14:creationId xmlns:p14="http://schemas.microsoft.com/office/powerpoint/2010/main" val="195877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DDA565-60EA-ADC1-2979-9B30F22C7CF3}"/>
              </a:ext>
            </a:extLst>
          </p:cNvPr>
          <p:cNvSpPr txBox="1"/>
          <p:nvPr/>
        </p:nvSpPr>
        <p:spPr>
          <a:xfrm>
            <a:off x="668593" y="1944970"/>
            <a:ext cx="6096000" cy="461665"/>
          </a:xfrm>
          <a:prstGeom prst="rect">
            <a:avLst/>
          </a:prstGeom>
          <a:noFill/>
        </p:spPr>
        <p:txBody>
          <a:bodyPr wrap="square">
            <a:spAutoFit/>
          </a:bodyPr>
          <a:lstStyle/>
          <a:p>
            <a:r>
              <a:rPr lang="en-IN" sz="2400" dirty="0">
                <a:latin typeface="Algerian" panose="04020705040A02060702" pitchFamily="82" charset="0"/>
              </a:rPr>
              <a:t>Understanding the Data :</a:t>
            </a:r>
          </a:p>
        </p:txBody>
      </p:sp>
      <p:sp>
        <p:nvSpPr>
          <p:cNvPr id="5" name="TextBox 4">
            <a:extLst>
              <a:ext uri="{FF2B5EF4-FFF2-40B4-BE49-F238E27FC236}">
                <a16:creationId xmlns:a16="http://schemas.microsoft.com/office/drawing/2014/main" id="{9210932B-531C-4F7D-14B7-FA92C1FA7A57}"/>
              </a:ext>
            </a:extLst>
          </p:cNvPr>
          <p:cNvSpPr txBox="1"/>
          <p:nvPr/>
        </p:nvSpPr>
        <p:spPr>
          <a:xfrm>
            <a:off x="2163098" y="2709288"/>
            <a:ext cx="9478297" cy="1288879"/>
          </a:xfrm>
          <a:prstGeom prst="rect">
            <a:avLst/>
          </a:prstGeom>
          <a:noFill/>
        </p:spPr>
        <p:txBody>
          <a:bodyPr wrap="square">
            <a:spAutoFit/>
          </a:bodyPr>
          <a:lstStyle/>
          <a:p>
            <a:pPr algn="just">
              <a:lnSpc>
                <a:spcPct val="150000"/>
              </a:lnSpc>
              <a:buNone/>
            </a:pPr>
            <a:r>
              <a:rPr lang="en-US" dirty="0"/>
              <a:t>Before starting the analysis, it is important to understand the dataset and the key      features available in it. Understanding the data helps in identifying patterns, business problems, and useful insights.</a:t>
            </a:r>
          </a:p>
        </p:txBody>
      </p:sp>
    </p:spTree>
    <p:extLst>
      <p:ext uri="{BB962C8B-B14F-4D97-AF65-F5344CB8AC3E}">
        <p14:creationId xmlns:p14="http://schemas.microsoft.com/office/powerpoint/2010/main" val="1717872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1D07B7-A6AA-D04A-96D2-EEBEE369792D}"/>
              </a:ext>
            </a:extLst>
          </p:cNvPr>
          <p:cNvSpPr txBox="1"/>
          <p:nvPr/>
        </p:nvSpPr>
        <p:spPr>
          <a:xfrm>
            <a:off x="707923" y="936211"/>
            <a:ext cx="6096000" cy="461665"/>
          </a:xfrm>
          <a:prstGeom prst="rect">
            <a:avLst/>
          </a:prstGeom>
          <a:noFill/>
        </p:spPr>
        <p:txBody>
          <a:bodyPr wrap="square">
            <a:spAutoFit/>
          </a:bodyPr>
          <a:lstStyle/>
          <a:p>
            <a:r>
              <a:rPr lang="en-US" sz="2400" dirty="0">
                <a:latin typeface="Algerian" panose="04020705040A02060702" pitchFamily="82" charset="0"/>
              </a:rPr>
              <a:t>What the Overall Data Tells :</a:t>
            </a:r>
            <a:endParaRPr lang="en-IN" sz="2400" dirty="0">
              <a:latin typeface="Algerian" panose="04020705040A02060702" pitchFamily="82" charset="0"/>
            </a:endParaRPr>
          </a:p>
        </p:txBody>
      </p:sp>
      <p:sp>
        <p:nvSpPr>
          <p:cNvPr id="5" name="TextBox 4">
            <a:extLst>
              <a:ext uri="{FF2B5EF4-FFF2-40B4-BE49-F238E27FC236}">
                <a16:creationId xmlns:a16="http://schemas.microsoft.com/office/drawing/2014/main" id="{FA63C2E0-B0E9-6111-D858-B2542D3A381C}"/>
              </a:ext>
            </a:extLst>
          </p:cNvPr>
          <p:cNvSpPr txBox="1"/>
          <p:nvPr/>
        </p:nvSpPr>
        <p:spPr>
          <a:xfrm>
            <a:off x="2359742" y="1596327"/>
            <a:ext cx="9674942" cy="4612866"/>
          </a:xfrm>
          <a:prstGeom prst="rect">
            <a:avLst/>
          </a:prstGeom>
          <a:noFill/>
        </p:spPr>
        <p:txBody>
          <a:bodyPr wrap="square">
            <a:spAutoFit/>
          </a:bodyPr>
          <a:lstStyle/>
          <a:p>
            <a:pPr algn="just">
              <a:lnSpc>
                <a:spcPct val="150000"/>
              </a:lnSpc>
              <a:buNone/>
            </a:pPr>
            <a:r>
              <a:rPr lang="en-US" dirty="0"/>
              <a:t>“The dataset provides complete information about students and their placement outcomes.”</a:t>
            </a:r>
          </a:p>
          <a:p>
            <a:pPr algn="just">
              <a:lnSpc>
                <a:spcPct val="150000"/>
              </a:lnSpc>
              <a:buNone/>
            </a:pPr>
            <a:r>
              <a:rPr lang="en-US" dirty="0"/>
              <a:t>It gives an overall view of:</a:t>
            </a:r>
          </a:p>
          <a:p>
            <a:pPr algn="just">
              <a:lnSpc>
                <a:spcPct val="150000"/>
              </a:lnSpc>
              <a:buFont typeface="Arial" panose="020B0604020202020204" pitchFamily="34" charset="0"/>
              <a:buChar char="•"/>
            </a:pPr>
            <a:r>
              <a:rPr lang="en-US" dirty="0"/>
              <a:t> Total number of students </a:t>
            </a:r>
          </a:p>
          <a:p>
            <a:pPr algn="just">
              <a:lnSpc>
                <a:spcPct val="150000"/>
              </a:lnSpc>
              <a:buFont typeface="Arial" panose="020B0604020202020204" pitchFamily="34" charset="0"/>
              <a:buChar char="•"/>
            </a:pPr>
            <a:r>
              <a:rPr lang="en-US" dirty="0"/>
              <a:t> Number of placed and not placed students </a:t>
            </a:r>
          </a:p>
          <a:p>
            <a:pPr algn="just">
              <a:lnSpc>
                <a:spcPct val="150000"/>
              </a:lnSpc>
              <a:buFont typeface="Arial" panose="020B0604020202020204" pitchFamily="34" charset="0"/>
              <a:buChar char="•"/>
            </a:pPr>
            <a:r>
              <a:rPr lang="en-US" dirty="0"/>
              <a:t> Academic performance of students </a:t>
            </a:r>
          </a:p>
          <a:p>
            <a:pPr algn="just">
              <a:lnSpc>
                <a:spcPct val="150000"/>
              </a:lnSpc>
              <a:buFont typeface="Arial" panose="020B0604020202020204" pitchFamily="34" charset="0"/>
              <a:buChar char="•"/>
            </a:pPr>
            <a:r>
              <a:rPr lang="en-US" dirty="0"/>
              <a:t> Skill levels of students </a:t>
            </a:r>
          </a:p>
          <a:p>
            <a:pPr algn="just">
              <a:lnSpc>
                <a:spcPct val="150000"/>
              </a:lnSpc>
              <a:buFont typeface="Arial" panose="020B0604020202020204" pitchFamily="34" charset="0"/>
              <a:buChar char="•"/>
            </a:pPr>
            <a:r>
              <a:rPr lang="en-US" dirty="0"/>
              <a:t> Internship and project experience </a:t>
            </a:r>
          </a:p>
          <a:p>
            <a:pPr algn="just">
              <a:lnSpc>
                <a:spcPct val="150000"/>
              </a:lnSpc>
              <a:buFont typeface="Arial" panose="020B0604020202020204" pitchFamily="34" charset="0"/>
              <a:buChar char="•"/>
            </a:pPr>
            <a:r>
              <a:rPr lang="en-US" dirty="0"/>
              <a:t> Factors affecting placement success </a:t>
            </a:r>
          </a:p>
          <a:p>
            <a:pPr algn="just">
              <a:lnSpc>
                <a:spcPct val="150000"/>
              </a:lnSpc>
              <a:buNone/>
            </a:pPr>
            <a:r>
              <a:rPr lang="en-US" dirty="0"/>
              <a:t>👉 “This overall data helps in measuring placement performance and identifying areas for improvement.”</a:t>
            </a:r>
          </a:p>
        </p:txBody>
      </p:sp>
    </p:spTree>
    <p:extLst>
      <p:ext uri="{BB962C8B-B14F-4D97-AF65-F5344CB8AC3E}">
        <p14:creationId xmlns:p14="http://schemas.microsoft.com/office/powerpoint/2010/main" val="446201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0640A6-DA6E-227F-D184-406DBD06D6FA}"/>
              </a:ext>
            </a:extLst>
          </p:cNvPr>
          <p:cNvSpPr txBox="1"/>
          <p:nvPr/>
        </p:nvSpPr>
        <p:spPr>
          <a:xfrm>
            <a:off x="580104" y="844061"/>
            <a:ext cx="6096000" cy="461665"/>
          </a:xfrm>
          <a:prstGeom prst="rect">
            <a:avLst/>
          </a:prstGeom>
          <a:noFill/>
        </p:spPr>
        <p:txBody>
          <a:bodyPr wrap="square">
            <a:spAutoFit/>
          </a:bodyPr>
          <a:lstStyle/>
          <a:p>
            <a:r>
              <a:rPr lang="en-US" sz="2400" dirty="0">
                <a:latin typeface="Algerian" panose="04020705040A02060702" pitchFamily="82" charset="0"/>
              </a:rPr>
              <a:t>Important Features in the Dataset :</a:t>
            </a:r>
            <a:endParaRPr lang="en-IN" sz="2400" dirty="0">
              <a:latin typeface="Algerian" panose="04020705040A02060702" pitchFamily="82" charset="0"/>
            </a:endParaRPr>
          </a:p>
        </p:txBody>
      </p:sp>
      <p:sp>
        <p:nvSpPr>
          <p:cNvPr id="5" name="TextBox 4">
            <a:extLst>
              <a:ext uri="{FF2B5EF4-FFF2-40B4-BE49-F238E27FC236}">
                <a16:creationId xmlns:a16="http://schemas.microsoft.com/office/drawing/2014/main" id="{BF5490F7-7B26-7713-4142-99C8B5BB50D7}"/>
              </a:ext>
            </a:extLst>
          </p:cNvPr>
          <p:cNvSpPr txBox="1"/>
          <p:nvPr/>
        </p:nvSpPr>
        <p:spPr>
          <a:xfrm>
            <a:off x="747253" y="1904002"/>
            <a:ext cx="6096000" cy="369332"/>
          </a:xfrm>
          <a:prstGeom prst="rect">
            <a:avLst/>
          </a:prstGeom>
          <a:noFill/>
        </p:spPr>
        <p:txBody>
          <a:bodyPr wrap="square">
            <a:spAutoFit/>
          </a:bodyPr>
          <a:lstStyle/>
          <a:p>
            <a:r>
              <a:rPr lang="en-IN" b="1" dirty="0"/>
              <a:t>1. Academic Features :</a:t>
            </a:r>
          </a:p>
        </p:txBody>
      </p:sp>
      <p:sp>
        <p:nvSpPr>
          <p:cNvPr id="6" name="Rectangle 1">
            <a:extLst>
              <a:ext uri="{FF2B5EF4-FFF2-40B4-BE49-F238E27FC236}">
                <a16:creationId xmlns:a16="http://schemas.microsoft.com/office/drawing/2014/main" id="{6104A019-4ABA-AA02-5240-D9EF4E2F5562}"/>
              </a:ext>
            </a:extLst>
          </p:cNvPr>
          <p:cNvSpPr>
            <a:spLocks noChangeArrowheads="1"/>
          </p:cNvSpPr>
          <p:nvPr/>
        </p:nvSpPr>
        <p:spPr bwMode="auto">
          <a:xfrm>
            <a:off x="2086914" y="2452561"/>
            <a:ext cx="6518964" cy="873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CGPA</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Indicates student academic performance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Backlogs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Shows pending subjects and affects eligibility </a:t>
            </a:r>
          </a:p>
        </p:txBody>
      </p:sp>
      <p:sp>
        <p:nvSpPr>
          <p:cNvPr id="8" name="TextBox 7">
            <a:extLst>
              <a:ext uri="{FF2B5EF4-FFF2-40B4-BE49-F238E27FC236}">
                <a16:creationId xmlns:a16="http://schemas.microsoft.com/office/drawing/2014/main" id="{F4D8AEB1-29E0-6AF3-A63A-44A2092086A5}"/>
              </a:ext>
            </a:extLst>
          </p:cNvPr>
          <p:cNvSpPr txBox="1"/>
          <p:nvPr/>
        </p:nvSpPr>
        <p:spPr>
          <a:xfrm>
            <a:off x="747253" y="3610275"/>
            <a:ext cx="6096000" cy="369332"/>
          </a:xfrm>
          <a:prstGeom prst="rect">
            <a:avLst/>
          </a:prstGeom>
          <a:noFill/>
        </p:spPr>
        <p:txBody>
          <a:bodyPr wrap="square">
            <a:spAutoFit/>
          </a:bodyPr>
          <a:lstStyle/>
          <a:p>
            <a:r>
              <a:rPr lang="en-IN" b="1" dirty="0"/>
              <a:t>2. Experience Features :</a:t>
            </a:r>
          </a:p>
        </p:txBody>
      </p:sp>
      <p:sp>
        <p:nvSpPr>
          <p:cNvPr id="9" name="Rectangle 2">
            <a:extLst>
              <a:ext uri="{FF2B5EF4-FFF2-40B4-BE49-F238E27FC236}">
                <a16:creationId xmlns:a16="http://schemas.microsoft.com/office/drawing/2014/main" id="{D4A8F1DD-D413-7967-D28F-148CCFAAF368}"/>
              </a:ext>
            </a:extLst>
          </p:cNvPr>
          <p:cNvSpPr>
            <a:spLocks noChangeArrowheads="1"/>
          </p:cNvSpPr>
          <p:nvPr/>
        </p:nvSpPr>
        <p:spPr bwMode="auto">
          <a:xfrm>
            <a:off x="2129906" y="4264742"/>
            <a:ext cx="4872616"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Internships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Practical industry exposure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Projects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Hands-on technical experience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Certifications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Additional skill validation </a:t>
            </a:r>
          </a:p>
        </p:txBody>
      </p:sp>
    </p:spTree>
    <p:extLst>
      <p:ext uri="{BB962C8B-B14F-4D97-AF65-F5344CB8AC3E}">
        <p14:creationId xmlns:p14="http://schemas.microsoft.com/office/powerpoint/2010/main" val="1737481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6CBD19-8681-CBD2-62A2-63BA473372B1}"/>
              </a:ext>
            </a:extLst>
          </p:cNvPr>
          <p:cNvSpPr txBox="1"/>
          <p:nvPr/>
        </p:nvSpPr>
        <p:spPr>
          <a:xfrm>
            <a:off x="914400" y="955875"/>
            <a:ext cx="6096000" cy="369332"/>
          </a:xfrm>
          <a:prstGeom prst="rect">
            <a:avLst/>
          </a:prstGeom>
          <a:noFill/>
        </p:spPr>
        <p:txBody>
          <a:bodyPr wrap="square">
            <a:spAutoFit/>
          </a:bodyPr>
          <a:lstStyle/>
          <a:p>
            <a:r>
              <a:rPr lang="en-IN" b="1" dirty="0"/>
              <a:t>3. Skill Features :</a:t>
            </a:r>
          </a:p>
        </p:txBody>
      </p:sp>
      <p:sp>
        <p:nvSpPr>
          <p:cNvPr id="4" name="Rectangle 1">
            <a:extLst>
              <a:ext uri="{FF2B5EF4-FFF2-40B4-BE49-F238E27FC236}">
                <a16:creationId xmlns:a16="http://schemas.microsoft.com/office/drawing/2014/main" id="{7415C89E-66A6-54A9-79EA-96D1AE599749}"/>
              </a:ext>
            </a:extLst>
          </p:cNvPr>
          <p:cNvSpPr>
            <a:spLocks noChangeArrowheads="1"/>
          </p:cNvSpPr>
          <p:nvPr/>
        </p:nvSpPr>
        <p:spPr bwMode="auto">
          <a:xfrm>
            <a:off x="2023698" y="1525745"/>
            <a:ext cx="5619359"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Coding Skills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Technical ability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Aptitude Score</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Problem-solving ability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Communication Skills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Important for interviews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Soft Skills</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a:ln>
                  <a:noFill/>
                </a:ln>
                <a:solidFill>
                  <a:schemeClr val="tx1"/>
                </a:solidFill>
                <a:effectLst/>
              </a:rPr>
              <a:t>Teamwork and adaptability </a:t>
            </a:r>
          </a:p>
        </p:txBody>
      </p:sp>
      <p:sp>
        <p:nvSpPr>
          <p:cNvPr id="6" name="TextBox 5">
            <a:extLst>
              <a:ext uri="{FF2B5EF4-FFF2-40B4-BE49-F238E27FC236}">
                <a16:creationId xmlns:a16="http://schemas.microsoft.com/office/drawing/2014/main" id="{0CDE84B7-8F19-0F4D-4974-5D2E1A221C73}"/>
              </a:ext>
            </a:extLst>
          </p:cNvPr>
          <p:cNvSpPr txBox="1"/>
          <p:nvPr/>
        </p:nvSpPr>
        <p:spPr>
          <a:xfrm>
            <a:off x="914400" y="3629225"/>
            <a:ext cx="6096000" cy="369332"/>
          </a:xfrm>
          <a:prstGeom prst="rect">
            <a:avLst/>
          </a:prstGeom>
          <a:noFill/>
        </p:spPr>
        <p:txBody>
          <a:bodyPr wrap="square">
            <a:spAutoFit/>
          </a:bodyPr>
          <a:lstStyle/>
          <a:p>
            <a:r>
              <a:rPr lang="en-IN" b="1" dirty="0"/>
              <a:t>4. Placement Feature :</a:t>
            </a:r>
          </a:p>
        </p:txBody>
      </p:sp>
      <p:sp>
        <p:nvSpPr>
          <p:cNvPr id="8" name="TextBox 7">
            <a:extLst>
              <a:ext uri="{FF2B5EF4-FFF2-40B4-BE49-F238E27FC236}">
                <a16:creationId xmlns:a16="http://schemas.microsoft.com/office/drawing/2014/main" id="{31A29521-8814-986A-BB77-04A004F6D469}"/>
              </a:ext>
            </a:extLst>
          </p:cNvPr>
          <p:cNvSpPr txBox="1"/>
          <p:nvPr/>
        </p:nvSpPr>
        <p:spPr>
          <a:xfrm>
            <a:off x="2182762" y="4490268"/>
            <a:ext cx="6096000" cy="369332"/>
          </a:xfrm>
          <a:prstGeom prst="rect">
            <a:avLst/>
          </a:prstGeom>
          <a:noFill/>
        </p:spPr>
        <p:txBody>
          <a:bodyPr wrap="square">
            <a:spAutoFit/>
          </a:bodyPr>
          <a:lstStyle/>
          <a:p>
            <a:pPr marL="285750" indent="-285750">
              <a:buFont typeface="Arial" panose="020B0604020202020204" pitchFamily="34" charset="0"/>
              <a:buChar char="•"/>
            </a:pPr>
            <a:r>
              <a:rPr lang="en-US" b="1" dirty="0"/>
              <a:t>Placement Status</a:t>
            </a:r>
            <a:r>
              <a:rPr lang="en-US" dirty="0"/>
              <a:t> – Placed or Not Placed</a:t>
            </a:r>
            <a:endParaRPr lang="en-IN" dirty="0"/>
          </a:p>
        </p:txBody>
      </p:sp>
    </p:spTree>
    <p:extLst>
      <p:ext uri="{BB962C8B-B14F-4D97-AF65-F5344CB8AC3E}">
        <p14:creationId xmlns:p14="http://schemas.microsoft.com/office/powerpoint/2010/main" val="2302305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632613-A0BB-6247-97F0-DA77C95DBE5C}"/>
              </a:ext>
            </a:extLst>
          </p:cNvPr>
          <p:cNvSpPr txBox="1"/>
          <p:nvPr/>
        </p:nvSpPr>
        <p:spPr>
          <a:xfrm>
            <a:off x="983226" y="896882"/>
            <a:ext cx="6096000" cy="461665"/>
          </a:xfrm>
          <a:prstGeom prst="rect">
            <a:avLst/>
          </a:prstGeom>
          <a:noFill/>
        </p:spPr>
        <p:txBody>
          <a:bodyPr wrap="square">
            <a:spAutoFit/>
          </a:bodyPr>
          <a:lstStyle/>
          <a:p>
            <a:r>
              <a:rPr lang="en-IN" sz="2400" dirty="0">
                <a:latin typeface="Algerian" panose="04020705040A02060702" pitchFamily="82" charset="0"/>
              </a:rPr>
              <a:t>Data Preparation in Power BI :</a:t>
            </a:r>
          </a:p>
        </p:txBody>
      </p:sp>
      <p:sp>
        <p:nvSpPr>
          <p:cNvPr id="5" name="TextBox 4">
            <a:extLst>
              <a:ext uri="{FF2B5EF4-FFF2-40B4-BE49-F238E27FC236}">
                <a16:creationId xmlns:a16="http://schemas.microsoft.com/office/drawing/2014/main" id="{7878730B-C786-1225-6E6C-BC927A711754}"/>
              </a:ext>
            </a:extLst>
          </p:cNvPr>
          <p:cNvSpPr txBox="1"/>
          <p:nvPr/>
        </p:nvSpPr>
        <p:spPr>
          <a:xfrm>
            <a:off x="3028335" y="1476138"/>
            <a:ext cx="10392697" cy="369332"/>
          </a:xfrm>
          <a:prstGeom prst="rect">
            <a:avLst/>
          </a:prstGeom>
          <a:noFill/>
        </p:spPr>
        <p:txBody>
          <a:bodyPr wrap="square">
            <a:spAutoFit/>
          </a:bodyPr>
          <a:lstStyle/>
          <a:p>
            <a:r>
              <a:rPr lang="en-US" dirty="0"/>
              <a:t>Before analysis, the data was cleaned and transformed using Power BI.</a:t>
            </a:r>
            <a:endParaRPr lang="en-IN" dirty="0"/>
          </a:p>
        </p:txBody>
      </p:sp>
      <p:sp>
        <p:nvSpPr>
          <p:cNvPr id="7" name="TextBox 6">
            <a:extLst>
              <a:ext uri="{FF2B5EF4-FFF2-40B4-BE49-F238E27FC236}">
                <a16:creationId xmlns:a16="http://schemas.microsoft.com/office/drawing/2014/main" id="{2A1EF009-3122-FC7A-283A-982C7962BB96}"/>
              </a:ext>
            </a:extLst>
          </p:cNvPr>
          <p:cNvSpPr txBox="1"/>
          <p:nvPr/>
        </p:nvSpPr>
        <p:spPr>
          <a:xfrm>
            <a:off x="1241322" y="2055394"/>
            <a:ext cx="6710516" cy="369332"/>
          </a:xfrm>
          <a:prstGeom prst="rect">
            <a:avLst/>
          </a:prstGeom>
          <a:noFill/>
        </p:spPr>
        <p:txBody>
          <a:bodyPr wrap="square">
            <a:spAutoFit/>
          </a:bodyPr>
          <a:lstStyle/>
          <a:p>
            <a:r>
              <a:rPr lang="en-IN" dirty="0"/>
              <a:t>The steps performed were:</a:t>
            </a:r>
          </a:p>
        </p:txBody>
      </p:sp>
      <p:sp>
        <p:nvSpPr>
          <p:cNvPr id="9" name="TextBox 8">
            <a:extLst>
              <a:ext uri="{FF2B5EF4-FFF2-40B4-BE49-F238E27FC236}">
                <a16:creationId xmlns:a16="http://schemas.microsoft.com/office/drawing/2014/main" id="{E1FEFD4E-4901-3743-E0DF-C0E6642D748C}"/>
              </a:ext>
            </a:extLst>
          </p:cNvPr>
          <p:cNvSpPr txBox="1"/>
          <p:nvPr/>
        </p:nvSpPr>
        <p:spPr>
          <a:xfrm>
            <a:off x="1841091" y="2634650"/>
            <a:ext cx="10242755" cy="295087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I checked for missing or null values, and no null values were found. </a:t>
            </a:r>
          </a:p>
          <a:p>
            <a:pPr marL="285750" indent="-285750" algn="just">
              <a:lnSpc>
                <a:spcPct val="150000"/>
              </a:lnSpc>
              <a:buFont typeface="Arial" panose="020B0604020202020204" pitchFamily="34" charset="0"/>
              <a:buChar char="•"/>
            </a:pPr>
            <a:r>
              <a:rPr lang="en-US" dirty="0"/>
              <a:t>I checked for duplicate records, and no duplicates were identified. </a:t>
            </a:r>
          </a:p>
          <a:p>
            <a:pPr marL="285750" indent="-285750" algn="just">
              <a:lnSpc>
                <a:spcPct val="150000"/>
              </a:lnSpc>
              <a:buFont typeface="Arial" panose="020B0604020202020204" pitchFamily="34" charset="0"/>
              <a:buChar char="•"/>
            </a:pPr>
            <a:r>
              <a:rPr lang="en-US" dirty="0"/>
              <a:t>I created additional columns such as CGPA category and internship category to segment students into meaningful groups for better analysis.</a:t>
            </a:r>
          </a:p>
          <a:p>
            <a:pPr marL="285750" indent="-285750" algn="just">
              <a:lnSpc>
                <a:spcPct val="150000"/>
              </a:lnSpc>
              <a:buFont typeface="Arial" panose="020B0604020202020204" pitchFamily="34" charset="0"/>
              <a:buChar char="•"/>
            </a:pPr>
            <a:r>
              <a:rPr lang="en-US" dirty="0"/>
              <a:t>I created measures like total students, placed students, and placement percentage to track overall placement performance.</a:t>
            </a:r>
          </a:p>
          <a:p>
            <a:pPr marL="285750" indent="-285750" algn="just">
              <a:lnSpc>
                <a:spcPct val="150000"/>
              </a:lnSpc>
              <a:buFont typeface="Arial" panose="020B0604020202020204" pitchFamily="34" charset="0"/>
              <a:buChar char="•"/>
            </a:pPr>
            <a:r>
              <a:rPr lang="en-US" dirty="0"/>
              <a:t>These steps helped me prepare clean and structured data for accurate analysis in Power BI.</a:t>
            </a:r>
            <a:endParaRPr lang="en-IN" dirty="0"/>
          </a:p>
        </p:txBody>
      </p:sp>
    </p:spTree>
    <p:extLst>
      <p:ext uri="{BB962C8B-B14F-4D97-AF65-F5344CB8AC3E}">
        <p14:creationId xmlns:p14="http://schemas.microsoft.com/office/powerpoint/2010/main" val="3483485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FC88DD-4316-0ECA-AD02-5DA24006AF29}"/>
              </a:ext>
            </a:extLst>
          </p:cNvPr>
          <p:cNvSpPr txBox="1"/>
          <p:nvPr/>
        </p:nvSpPr>
        <p:spPr>
          <a:xfrm>
            <a:off x="747252" y="837889"/>
            <a:ext cx="8681884" cy="461665"/>
          </a:xfrm>
          <a:prstGeom prst="rect">
            <a:avLst/>
          </a:prstGeom>
          <a:noFill/>
        </p:spPr>
        <p:txBody>
          <a:bodyPr wrap="square">
            <a:spAutoFit/>
          </a:bodyPr>
          <a:lstStyle/>
          <a:p>
            <a:r>
              <a:rPr lang="en-US" sz="2400" dirty="0">
                <a:latin typeface="Algerian" panose="04020705040A02060702" pitchFamily="82" charset="0"/>
              </a:rPr>
              <a:t>EDA Process (Exploratory Data Analysis) :</a:t>
            </a:r>
            <a:endParaRPr lang="en-IN" sz="2400" dirty="0">
              <a:latin typeface="Algerian" panose="04020705040A02060702" pitchFamily="82" charset="0"/>
            </a:endParaRPr>
          </a:p>
        </p:txBody>
      </p:sp>
      <p:sp>
        <p:nvSpPr>
          <p:cNvPr id="5" name="TextBox 4">
            <a:extLst>
              <a:ext uri="{FF2B5EF4-FFF2-40B4-BE49-F238E27FC236}">
                <a16:creationId xmlns:a16="http://schemas.microsoft.com/office/drawing/2014/main" id="{0213945F-7628-3C14-6B86-A1686C43229E}"/>
              </a:ext>
            </a:extLst>
          </p:cNvPr>
          <p:cNvSpPr txBox="1"/>
          <p:nvPr/>
        </p:nvSpPr>
        <p:spPr>
          <a:xfrm>
            <a:off x="2163095" y="1798906"/>
            <a:ext cx="9684776" cy="253537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EDA stands for Exploratory Data Analysis. It is the process of understanding the data, finding patterns, checking relationships, and identifying important insights before making final conclusions.</a:t>
            </a:r>
          </a:p>
          <a:p>
            <a:pPr marL="285750" indent="-285750" algn="just">
              <a:lnSpc>
                <a:spcPct val="150000"/>
              </a:lnSpc>
              <a:buFont typeface="Arial" panose="020B0604020202020204" pitchFamily="34" charset="0"/>
              <a:buChar char="•"/>
            </a:pPr>
            <a:r>
              <a:rPr lang="en-US" dirty="0"/>
              <a:t>EDA is the process of exploring data to understand trends and patterns. </a:t>
            </a:r>
          </a:p>
          <a:p>
            <a:pPr marL="285750" indent="-285750" algn="just">
              <a:lnSpc>
                <a:spcPct val="150000"/>
              </a:lnSpc>
              <a:buFont typeface="Arial" panose="020B0604020202020204" pitchFamily="34" charset="0"/>
              <a:buChar char="•"/>
            </a:pPr>
            <a:r>
              <a:rPr lang="en-US" dirty="0"/>
              <a:t>I </a:t>
            </a:r>
            <a:r>
              <a:rPr lang="en-US" altLang="en-US" dirty="0">
                <a:cs typeface="Times New Roman" panose="02020603050405020304" pitchFamily="18" charset="0"/>
              </a:rPr>
              <a:t>Segmented data based on Over View , Performance , Skills &amp; Score </a:t>
            </a:r>
          </a:p>
          <a:p>
            <a:pPr marL="285750" indent="-285750">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335559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757169-0A17-BA58-FDD9-40535246CC2D}"/>
              </a:ext>
            </a:extLst>
          </p:cNvPr>
          <p:cNvSpPr txBox="1"/>
          <p:nvPr/>
        </p:nvSpPr>
        <p:spPr>
          <a:xfrm>
            <a:off x="3844413" y="3028336"/>
            <a:ext cx="4498347" cy="584775"/>
          </a:xfrm>
          <a:prstGeom prst="rect">
            <a:avLst/>
          </a:prstGeom>
          <a:noFill/>
        </p:spPr>
        <p:txBody>
          <a:bodyPr wrap="none" rtlCol="0">
            <a:spAutoFit/>
          </a:bodyPr>
          <a:lstStyle/>
          <a:p>
            <a:r>
              <a:rPr lang="en-IN" sz="3200" dirty="0">
                <a:latin typeface="Algerian" panose="04020705040A02060702" pitchFamily="82" charset="0"/>
              </a:rPr>
              <a:t>OVER VIEW ANALAYIS </a:t>
            </a:r>
          </a:p>
        </p:txBody>
      </p:sp>
    </p:spTree>
    <p:extLst>
      <p:ext uri="{BB962C8B-B14F-4D97-AF65-F5344CB8AC3E}">
        <p14:creationId xmlns:p14="http://schemas.microsoft.com/office/powerpoint/2010/main" val="2707968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0AEBA0-3EF9-AE96-C935-3CAA615839C2}"/>
              </a:ext>
            </a:extLst>
          </p:cNvPr>
          <p:cNvSpPr txBox="1"/>
          <p:nvPr/>
        </p:nvSpPr>
        <p:spPr>
          <a:xfrm>
            <a:off x="1406012" y="1837388"/>
            <a:ext cx="10687666" cy="21198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This dashboard provides an overall summary of student placement performance and student distribution. It gives a high-level view of total students, placed students, placement percentage, gender distribution, and placement status.</a:t>
            </a:r>
          </a:p>
          <a:p>
            <a:pPr marL="285750" indent="-285750" algn="just">
              <a:lnSpc>
                <a:spcPct val="150000"/>
              </a:lnSpc>
              <a:buFont typeface="Arial" panose="020B0604020202020204" pitchFamily="34" charset="0"/>
              <a:buChar char="•"/>
            </a:pPr>
            <a:r>
              <a:rPr lang="en-US" dirty="0"/>
              <a:t>Out of 5000 students, 1812 are placed with a 36.24% placement rate. Gender distribution is balanced, and CGPA plays an important role in placement success.</a:t>
            </a:r>
            <a:endParaRPr lang="en-IN" dirty="0"/>
          </a:p>
        </p:txBody>
      </p:sp>
      <p:sp>
        <p:nvSpPr>
          <p:cNvPr id="4" name="TextBox 3">
            <a:extLst>
              <a:ext uri="{FF2B5EF4-FFF2-40B4-BE49-F238E27FC236}">
                <a16:creationId xmlns:a16="http://schemas.microsoft.com/office/drawing/2014/main" id="{8AA65CAB-EE85-4BB1-A6A3-EBF4918CF862}"/>
              </a:ext>
            </a:extLst>
          </p:cNvPr>
          <p:cNvSpPr txBox="1"/>
          <p:nvPr/>
        </p:nvSpPr>
        <p:spPr>
          <a:xfrm>
            <a:off x="540774" y="1120878"/>
            <a:ext cx="2975495" cy="461665"/>
          </a:xfrm>
          <a:prstGeom prst="rect">
            <a:avLst/>
          </a:prstGeom>
          <a:noFill/>
        </p:spPr>
        <p:txBody>
          <a:bodyPr wrap="none" rtlCol="0">
            <a:spAutoFit/>
          </a:bodyPr>
          <a:lstStyle/>
          <a:p>
            <a:r>
              <a:rPr lang="en-IN" sz="2400" dirty="0">
                <a:latin typeface="Algerian" panose="04020705040A02060702" pitchFamily="82" charset="0"/>
              </a:rPr>
              <a:t>ABOUT OVER VIEW :</a:t>
            </a:r>
          </a:p>
        </p:txBody>
      </p:sp>
    </p:spTree>
    <p:extLst>
      <p:ext uri="{BB962C8B-B14F-4D97-AF65-F5344CB8AC3E}">
        <p14:creationId xmlns:p14="http://schemas.microsoft.com/office/powerpoint/2010/main" val="3409711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60E778-1EFB-418D-7926-74EFDE175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8673" y="389000"/>
            <a:ext cx="5457070" cy="2413193"/>
          </a:xfrm>
          <a:prstGeom prst="rect">
            <a:avLst/>
          </a:prstGeom>
        </p:spPr>
      </p:pic>
      <p:sp>
        <p:nvSpPr>
          <p:cNvPr id="4" name="TextBox 3">
            <a:extLst>
              <a:ext uri="{FF2B5EF4-FFF2-40B4-BE49-F238E27FC236}">
                <a16:creationId xmlns:a16="http://schemas.microsoft.com/office/drawing/2014/main" id="{45AE84FF-2118-3589-2F6D-E29372CBE711}"/>
              </a:ext>
            </a:extLst>
          </p:cNvPr>
          <p:cNvSpPr txBox="1"/>
          <p:nvPr/>
        </p:nvSpPr>
        <p:spPr>
          <a:xfrm>
            <a:off x="668592" y="3078797"/>
            <a:ext cx="11385755" cy="461286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bar chart shows the number of students placed from each academic branch or department.</a:t>
            </a:r>
          </a:p>
          <a:p>
            <a:pPr marL="285750" indent="-285750" algn="just">
              <a:lnSpc>
                <a:spcPct val="150000"/>
              </a:lnSpc>
              <a:buFont typeface="Wingdings" panose="05000000000000000000" pitchFamily="2" charset="2"/>
              <a:buChar char="Ø"/>
            </a:pPr>
            <a:r>
              <a:rPr lang="en-US" dirty="0"/>
              <a:t>Each bar represents the </a:t>
            </a:r>
            <a:r>
              <a:rPr lang="en-US" b="1" dirty="0"/>
              <a:t>count of placed students</a:t>
            </a:r>
            <a:r>
              <a:rPr lang="en-US" dirty="0"/>
              <a:t> in that branch.</a:t>
            </a:r>
          </a:p>
          <a:p>
            <a:pPr marL="285750" indent="-285750" algn="just">
              <a:lnSpc>
                <a:spcPct val="150000"/>
              </a:lnSpc>
              <a:buFont typeface="Wingdings" panose="05000000000000000000" pitchFamily="2" charset="2"/>
              <a:buChar char="Ø"/>
            </a:pPr>
            <a:r>
              <a:rPr lang="en-US" dirty="0"/>
              <a:t>This chart is used to compare placement performance across different branches.</a:t>
            </a:r>
          </a:p>
          <a:p>
            <a:pPr marL="285750" indent="-285750" algn="just">
              <a:lnSpc>
                <a:spcPct val="150000"/>
              </a:lnSpc>
              <a:buFont typeface="Wingdings" panose="05000000000000000000" pitchFamily="2" charset="2"/>
              <a:buChar char="Ø"/>
            </a:pPr>
            <a:r>
              <a:rPr lang="en-US" dirty="0"/>
              <a:t>IT</a:t>
            </a:r>
            <a:r>
              <a:rPr lang="en-US" b="1" dirty="0"/>
              <a:t> </a:t>
            </a:r>
            <a:r>
              <a:rPr lang="en-US" dirty="0"/>
              <a:t>Shows the </a:t>
            </a:r>
            <a:r>
              <a:rPr lang="en-US" b="1" dirty="0"/>
              <a:t>highest placed students</a:t>
            </a:r>
            <a:r>
              <a:rPr lang="en-US" dirty="0"/>
              <a:t> in the chart.</a:t>
            </a:r>
          </a:p>
          <a:p>
            <a:pPr marL="285750" indent="-285750" algn="just">
              <a:lnSpc>
                <a:spcPct val="150000"/>
              </a:lnSpc>
              <a:buFont typeface="Wingdings" panose="05000000000000000000" pitchFamily="2" charset="2"/>
              <a:buChar char="Ø"/>
            </a:pPr>
            <a:r>
              <a:rPr lang="en-US" dirty="0"/>
              <a:t>CSE has one of the </a:t>
            </a:r>
            <a:r>
              <a:rPr lang="en-US" b="1" dirty="0"/>
              <a:t>highest placement counts</a:t>
            </a:r>
            <a:r>
              <a:rPr lang="en-US" dirty="0"/>
              <a:t>.</a:t>
            </a:r>
          </a:p>
          <a:p>
            <a:pPr marL="285750" indent="-285750" algn="just">
              <a:lnSpc>
                <a:spcPct val="150000"/>
              </a:lnSpc>
              <a:buFont typeface="Wingdings" panose="05000000000000000000" pitchFamily="2" charset="2"/>
              <a:buChar char="Ø"/>
            </a:pPr>
            <a:r>
              <a:rPr lang="en-US" dirty="0"/>
              <a:t>ECE Placement count is also </a:t>
            </a:r>
            <a:r>
              <a:rPr lang="en-US" b="1" dirty="0"/>
              <a:t>high</a:t>
            </a:r>
            <a:r>
              <a:rPr lang="en-US" dirty="0"/>
              <a:t>, close to CSE.</a:t>
            </a:r>
          </a:p>
          <a:p>
            <a:pPr marL="285750" indent="-285750" algn="just">
              <a:lnSpc>
                <a:spcPct val="150000"/>
              </a:lnSpc>
              <a:buFont typeface="Wingdings" panose="05000000000000000000" pitchFamily="2" charset="2"/>
              <a:buChar char="Ø"/>
            </a:pPr>
            <a:r>
              <a:rPr lang="en-US" dirty="0"/>
              <a:t>Civil Has the </a:t>
            </a:r>
            <a:r>
              <a:rPr lang="en-US" b="1" dirty="0"/>
              <a:t>lowest placed students</a:t>
            </a:r>
            <a:r>
              <a:rPr lang="en-US" dirty="0"/>
              <a:t> among all branches.</a:t>
            </a:r>
          </a:p>
          <a:p>
            <a:pPr marL="285750" indent="-285750" algn="just">
              <a:lnSpc>
                <a:spcPct val="150000"/>
              </a:lnSpc>
              <a:buFont typeface="Wingdings" panose="05000000000000000000" pitchFamily="2" charset="2"/>
              <a:buChar char="Ø"/>
            </a:pPr>
            <a:r>
              <a:rPr lang="en-US" dirty="0"/>
              <a:t>Mechanical Engineering Moderate placement count, lower than CSE/ECE/IT.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lnSpc>
                <a:spcPct val="150000"/>
              </a:lnSpc>
              <a:buFont typeface="Wingdings" panose="05000000000000000000" pitchFamily="2" charset="2"/>
              <a:buChar char="Ø"/>
            </a:pPr>
            <a:endParaRPr lang="en-IN" dirty="0"/>
          </a:p>
        </p:txBody>
      </p:sp>
    </p:spTree>
    <p:extLst>
      <p:ext uri="{BB962C8B-B14F-4D97-AF65-F5344CB8AC3E}">
        <p14:creationId xmlns:p14="http://schemas.microsoft.com/office/powerpoint/2010/main" val="2908546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7EB830-80CE-2246-F2A7-206FF5F092ED}"/>
              </a:ext>
            </a:extLst>
          </p:cNvPr>
          <p:cNvSpPr txBox="1"/>
          <p:nvPr/>
        </p:nvSpPr>
        <p:spPr>
          <a:xfrm>
            <a:off x="973394" y="1248697"/>
            <a:ext cx="4475905" cy="461665"/>
          </a:xfrm>
          <a:prstGeom prst="rect">
            <a:avLst/>
          </a:prstGeom>
          <a:noFill/>
        </p:spPr>
        <p:txBody>
          <a:bodyPr wrap="none" rtlCol="0">
            <a:spAutoFit/>
          </a:bodyPr>
          <a:lstStyle/>
          <a:p>
            <a:r>
              <a:rPr lang="en-IN" sz="2400" dirty="0">
                <a:latin typeface="Algerian" panose="04020705040A02060702" pitchFamily="82" charset="0"/>
              </a:rPr>
              <a:t>Overall Insights OF CHART:</a:t>
            </a:r>
          </a:p>
        </p:txBody>
      </p:sp>
      <p:sp>
        <p:nvSpPr>
          <p:cNvPr id="4" name="TextBox 3">
            <a:extLst>
              <a:ext uri="{FF2B5EF4-FFF2-40B4-BE49-F238E27FC236}">
                <a16:creationId xmlns:a16="http://schemas.microsoft.com/office/drawing/2014/main" id="{9C926C84-BFA8-8E05-6BE7-7AF0D231465C}"/>
              </a:ext>
            </a:extLst>
          </p:cNvPr>
          <p:cNvSpPr txBox="1"/>
          <p:nvPr/>
        </p:nvSpPr>
        <p:spPr>
          <a:xfrm>
            <a:off x="2595715" y="2033185"/>
            <a:ext cx="8967019" cy="21198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Technical branches like </a:t>
            </a:r>
            <a:r>
              <a:rPr lang="en-US" b="1" dirty="0"/>
              <a:t>IT, CSE, and ECE</a:t>
            </a:r>
            <a:r>
              <a:rPr lang="en-US" dirty="0"/>
              <a:t> have stronger placement performance.</a:t>
            </a:r>
          </a:p>
          <a:p>
            <a:pPr marL="285750" indent="-285750" algn="just">
              <a:lnSpc>
                <a:spcPct val="150000"/>
              </a:lnSpc>
              <a:buFont typeface="Arial" panose="020B0604020202020204" pitchFamily="34" charset="0"/>
              <a:buChar char="•"/>
            </a:pPr>
            <a:r>
              <a:rPr lang="en-US" dirty="0"/>
              <a:t>Core branches like </a:t>
            </a:r>
            <a:r>
              <a:rPr lang="en-US" b="1" dirty="0"/>
              <a:t>Civil and Mechanical</a:t>
            </a:r>
            <a:r>
              <a:rPr lang="en-US" dirty="0"/>
              <a:t> show lower placement counts.</a:t>
            </a:r>
          </a:p>
          <a:p>
            <a:pPr marL="285750" indent="-285750" algn="just">
              <a:lnSpc>
                <a:spcPct val="150000"/>
              </a:lnSpc>
              <a:buFont typeface="Arial" panose="020B0604020202020204" pitchFamily="34" charset="0"/>
              <a:buChar char="•"/>
            </a:pPr>
            <a:r>
              <a:rPr lang="en-US" dirty="0"/>
              <a:t>This indicates that current market demand is higher for technology-related skills.</a:t>
            </a:r>
          </a:p>
        </p:txBody>
      </p:sp>
    </p:spTree>
    <p:extLst>
      <p:ext uri="{BB962C8B-B14F-4D97-AF65-F5344CB8AC3E}">
        <p14:creationId xmlns:p14="http://schemas.microsoft.com/office/powerpoint/2010/main" val="3006053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97CCFB-45A0-342D-BF1D-9CD2E369E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1015" y="477183"/>
            <a:ext cx="4907075" cy="2344673"/>
          </a:xfrm>
          <a:prstGeom prst="rect">
            <a:avLst/>
          </a:prstGeom>
        </p:spPr>
      </p:pic>
      <p:sp>
        <p:nvSpPr>
          <p:cNvPr id="4" name="TextBox 3">
            <a:extLst>
              <a:ext uri="{FF2B5EF4-FFF2-40B4-BE49-F238E27FC236}">
                <a16:creationId xmlns:a16="http://schemas.microsoft.com/office/drawing/2014/main" id="{197924F4-3040-D795-460D-D6C6A0588A86}"/>
              </a:ext>
            </a:extLst>
          </p:cNvPr>
          <p:cNvSpPr txBox="1"/>
          <p:nvPr/>
        </p:nvSpPr>
        <p:spPr>
          <a:xfrm>
            <a:off x="1705896" y="3106599"/>
            <a:ext cx="10004323" cy="253537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donut chart shows the distribution of placed students based on gender.</a:t>
            </a:r>
          </a:p>
          <a:p>
            <a:pPr marL="285750" indent="-285750" algn="just">
              <a:lnSpc>
                <a:spcPct val="150000"/>
              </a:lnSpc>
              <a:buFont typeface="Wingdings" panose="05000000000000000000" pitchFamily="2" charset="2"/>
              <a:buChar char="Ø"/>
            </a:pPr>
            <a:r>
              <a:rPr lang="en-US" dirty="0"/>
              <a:t>It compares how many </a:t>
            </a:r>
            <a:r>
              <a:rPr lang="en-US" b="1" dirty="0"/>
              <a:t>male</a:t>
            </a:r>
            <a:r>
              <a:rPr lang="en-US" dirty="0"/>
              <a:t> and </a:t>
            </a:r>
            <a:r>
              <a:rPr lang="en-US" b="1" dirty="0"/>
              <a:t>female</a:t>
            </a:r>
            <a:r>
              <a:rPr lang="en-US" dirty="0"/>
              <a:t> students got placed.</a:t>
            </a:r>
          </a:p>
          <a:p>
            <a:pPr marL="285750" indent="-285750" algn="just">
              <a:lnSpc>
                <a:spcPct val="150000"/>
              </a:lnSpc>
              <a:buFont typeface="Wingdings" panose="05000000000000000000" pitchFamily="2" charset="2"/>
              <a:buChar char="Ø"/>
            </a:pPr>
            <a:r>
              <a:rPr lang="en-US" dirty="0"/>
              <a:t>This chart is used to compare placement outcomes between male and female students.</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US" altLang="en-US" b="1" dirty="0">
                <a:latin typeface="Arial" panose="020B0604020202020204" pitchFamily="34" charset="0"/>
              </a:rPr>
              <a:t>Male:</a:t>
            </a:r>
            <a:r>
              <a:rPr lang="en-US" altLang="en-US" dirty="0">
                <a:latin typeface="Arial" panose="020B0604020202020204" pitchFamily="34" charset="0"/>
              </a:rPr>
              <a:t> 919 students (</a:t>
            </a:r>
            <a:r>
              <a:rPr lang="en-US" altLang="en-US" b="1" dirty="0">
                <a:latin typeface="Arial" panose="020B0604020202020204" pitchFamily="34" charset="0"/>
              </a:rPr>
              <a:t>50.72%</a:t>
            </a:r>
            <a:r>
              <a:rPr lang="en-US" altLang="en-US" dirty="0">
                <a:latin typeface="Arial" panose="020B0604020202020204" pitchFamily="34" charset="0"/>
              </a:rPr>
              <a:t>) </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US" altLang="en-US" b="1" dirty="0">
                <a:latin typeface="Arial" panose="020B0604020202020204" pitchFamily="34" charset="0"/>
              </a:rPr>
              <a:t>Female:</a:t>
            </a:r>
            <a:r>
              <a:rPr lang="en-US" altLang="en-US" dirty="0">
                <a:latin typeface="Arial" panose="020B0604020202020204" pitchFamily="34" charset="0"/>
              </a:rPr>
              <a:t> 893 students (</a:t>
            </a:r>
            <a:r>
              <a:rPr lang="en-US" altLang="en-US" b="1" dirty="0">
                <a:latin typeface="Arial" panose="020B0604020202020204" pitchFamily="34" charset="0"/>
              </a:rPr>
              <a:t>49.28%</a:t>
            </a:r>
            <a:r>
              <a:rPr lang="en-US" altLang="en-US" dirty="0">
                <a:latin typeface="Arial" panose="020B0604020202020204" pitchFamily="34" charset="0"/>
              </a:rPr>
              <a:t>) </a:t>
            </a:r>
          </a:p>
          <a:p>
            <a:pPr marL="285750" indent="-285750">
              <a:lnSpc>
                <a:spcPct val="150000"/>
              </a:lnSpc>
              <a:buFont typeface="Arial" panose="020B0604020202020204" pitchFamily="34" charset="0"/>
              <a:buChar char="•"/>
            </a:pPr>
            <a:endParaRPr lang="en-US" dirty="0"/>
          </a:p>
        </p:txBody>
      </p:sp>
      <p:sp>
        <p:nvSpPr>
          <p:cNvPr id="7" name="Rectangle 3">
            <a:extLst>
              <a:ext uri="{FF2B5EF4-FFF2-40B4-BE49-F238E27FC236}">
                <a16:creationId xmlns:a16="http://schemas.microsoft.com/office/drawing/2014/main" id="{7C52ACFA-61A6-BFD2-8EE7-178C7C63759F}"/>
              </a:ext>
            </a:extLst>
          </p:cNvPr>
          <p:cNvSpPr>
            <a:spLocks noChangeArrowheads="1"/>
          </p:cNvSpPr>
          <p:nvPr/>
        </p:nvSpPr>
        <p:spPr bwMode="auto">
          <a:xfrm>
            <a:off x="1268361" y="177195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102778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FE1C34-D155-D59D-4AD9-E603728A0D1C}"/>
              </a:ext>
            </a:extLst>
          </p:cNvPr>
          <p:cNvSpPr txBox="1"/>
          <p:nvPr/>
        </p:nvSpPr>
        <p:spPr>
          <a:xfrm>
            <a:off x="1032387" y="1329501"/>
            <a:ext cx="6096000" cy="461665"/>
          </a:xfrm>
          <a:prstGeom prst="rect">
            <a:avLst/>
          </a:prstGeom>
          <a:noFill/>
        </p:spPr>
        <p:txBody>
          <a:bodyPr wrap="square">
            <a:spAutoFit/>
          </a:bodyPr>
          <a:lstStyle/>
          <a:p>
            <a:r>
              <a:rPr lang="en-IN" sz="2400" dirty="0">
                <a:latin typeface="Algerian" panose="04020705040A02060702" pitchFamily="82" charset="0"/>
              </a:rPr>
              <a:t>Overall Insights OF CHART :</a:t>
            </a:r>
          </a:p>
        </p:txBody>
      </p:sp>
      <p:sp>
        <p:nvSpPr>
          <p:cNvPr id="5" name="TextBox 4">
            <a:extLst>
              <a:ext uri="{FF2B5EF4-FFF2-40B4-BE49-F238E27FC236}">
                <a16:creationId xmlns:a16="http://schemas.microsoft.com/office/drawing/2014/main" id="{BE4092A8-2F9D-7EDA-944C-136AB8C3CC6B}"/>
              </a:ext>
            </a:extLst>
          </p:cNvPr>
          <p:cNvSpPr txBox="1"/>
          <p:nvPr/>
        </p:nvSpPr>
        <p:spPr>
          <a:xfrm>
            <a:off x="2595716" y="2011825"/>
            <a:ext cx="9065342" cy="211987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The difference between male and female placements is only </a:t>
            </a:r>
            <a:r>
              <a:rPr lang="en-US" b="1" dirty="0"/>
              <a:t>26 students</a:t>
            </a:r>
            <a:r>
              <a:rPr lang="en-US" dirty="0"/>
              <a:t>, which is very small.</a:t>
            </a:r>
          </a:p>
          <a:p>
            <a:pPr marL="285750" indent="-285750" algn="just">
              <a:lnSpc>
                <a:spcPct val="150000"/>
              </a:lnSpc>
              <a:buFont typeface="Wingdings" panose="05000000000000000000" pitchFamily="2" charset="2"/>
              <a:buChar char="Ø"/>
            </a:pPr>
            <a:r>
              <a:rPr lang="en-US" dirty="0"/>
              <a:t>Placement distribution is </a:t>
            </a:r>
            <a:r>
              <a:rPr lang="en-US" b="1" dirty="0"/>
              <a:t>almost equal</a:t>
            </a:r>
            <a:r>
              <a:rPr lang="en-US" dirty="0"/>
              <a:t>, showing balanced opportunities.</a:t>
            </a:r>
          </a:p>
          <a:p>
            <a:pPr marL="285750" indent="-285750" algn="just">
              <a:lnSpc>
                <a:spcPct val="150000"/>
              </a:lnSpc>
              <a:buFont typeface="Wingdings" panose="05000000000000000000" pitchFamily="2" charset="2"/>
              <a:buChar char="Ø"/>
            </a:pPr>
            <a:r>
              <a:rPr lang="en-US" dirty="0"/>
              <a:t>There is no major gap based on gender in placement outcomes.</a:t>
            </a:r>
          </a:p>
          <a:p>
            <a:pPr marL="285750" indent="-285750" algn="just">
              <a:lnSpc>
                <a:spcPct val="150000"/>
              </a:lnSpc>
              <a:buFont typeface="Wingdings" panose="05000000000000000000" pitchFamily="2" charset="2"/>
              <a:buChar char="Ø"/>
            </a:pPr>
            <a:r>
              <a:rPr lang="en-US" dirty="0"/>
              <a:t>Both genders are participating successfully in placements.</a:t>
            </a:r>
          </a:p>
        </p:txBody>
      </p:sp>
    </p:spTree>
    <p:extLst>
      <p:ext uri="{BB962C8B-B14F-4D97-AF65-F5344CB8AC3E}">
        <p14:creationId xmlns:p14="http://schemas.microsoft.com/office/powerpoint/2010/main" val="2116466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0F13D4-11EF-B0B5-BCEC-BA805C5A0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3579" y="492993"/>
            <a:ext cx="4563112" cy="2210108"/>
          </a:xfrm>
          <a:prstGeom prst="rect">
            <a:avLst/>
          </a:prstGeom>
        </p:spPr>
      </p:pic>
      <p:sp>
        <p:nvSpPr>
          <p:cNvPr id="4" name="TextBox 3">
            <a:extLst>
              <a:ext uri="{FF2B5EF4-FFF2-40B4-BE49-F238E27FC236}">
                <a16:creationId xmlns:a16="http://schemas.microsoft.com/office/drawing/2014/main" id="{8F11786C-19F2-1FB7-24B6-12DADF77CF0C}"/>
              </a:ext>
            </a:extLst>
          </p:cNvPr>
          <p:cNvSpPr txBox="1"/>
          <p:nvPr/>
        </p:nvSpPr>
        <p:spPr>
          <a:xfrm>
            <a:off x="609600" y="2950128"/>
            <a:ext cx="11444748" cy="295087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stacked column chart shows the number of students in each </a:t>
            </a:r>
            <a:r>
              <a:rPr lang="en-US" b="1" dirty="0"/>
              <a:t>CGPA category</a:t>
            </a:r>
            <a:r>
              <a:rPr lang="en-US" dirty="0"/>
              <a:t> and their </a:t>
            </a:r>
            <a:r>
              <a:rPr lang="en-US" b="1" dirty="0"/>
              <a:t>placement status</a:t>
            </a:r>
            <a:r>
              <a:rPr lang="en-US" dirty="0"/>
              <a:t>.</a:t>
            </a:r>
          </a:p>
          <a:p>
            <a:pPr marL="285750" indent="-285750" algn="just">
              <a:lnSpc>
                <a:spcPct val="150000"/>
              </a:lnSpc>
              <a:buFont typeface="Wingdings" panose="05000000000000000000" pitchFamily="2" charset="2"/>
              <a:buChar char="Ø"/>
            </a:pPr>
            <a:r>
              <a:rPr lang="en-US" dirty="0"/>
              <a:t>This chart is used to analyze the relationship between academic performance (CGPA) and placements.</a:t>
            </a:r>
          </a:p>
          <a:p>
            <a:pPr marL="285750" indent="-285750" algn="just">
              <a:lnSpc>
                <a:spcPct val="150000"/>
              </a:lnSpc>
              <a:buFont typeface="Wingdings" panose="05000000000000000000" pitchFamily="2" charset="2"/>
              <a:buChar char="Ø"/>
            </a:pPr>
            <a:r>
              <a:rPr lang="en-US" dirty="0"/>
              <a:t>This chart compares students by CGPA and placement status. Medium CGPA has the highest number of students and placements(8-10) categories . High CGPA students have better placement success(5-7) categories , while low CGPA students have the lowest placements(below 5 ) categories .</a:t>
            </a:r>
          </a:p>
          <a:p>
            <a:pPr marL="285750" indent="-285750">
              <a:lnSpc>
                <a:spcPct val="150000"/>
              </a:lnSpc>
              <a:buFont typeface="Wingdings" panose="05000000000000000000" pitchFamily="2" charset="2"/>
              <a:buChar char="Ø"/>
            </a:pPr>
            <a:endParaRPr lang="en-IN" dirty="0"/>
          </a:p>
        </p:txBody>
      </p:sp>
    </p:spTree>
    <p:extLst>
      <p:ext uri="{BB962C8B-B14F-4D97-AF65-F5344CB8AC3E}">
        <p14:creationId xmlns:p14="http://schemas.microsoft.com/office/powerpoint/2010/main" val="1343024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24D33F-E18F-3003-144C-85246C08A02D}"/>
              </a:ext>
            </a:extLst>
          </p:cNvPr>
          <p:cNvSpPr txBox="1"/>
          <p:nvPr/>
        </p:nvSpPr>
        <p:spPr>
          <a:xfrm>
            <a:off x="865239" y="1663798"/>
            <a:ext cx="6096000" cy="461665"/>
          </a:xfrm>
          <a:prstGeom prst="rect">
            <a:avLst/>
          </a:prstGeom>
          <a:noFill/>
        </p:spPr>
        <p:txBody>
          <a:bodyPr wrap="square">
            <a:spAutoFit/>
          </a:bodyPr>
          <a:lstStyle/>
          <a:p>
            <a:r>
              <a:rPr lang="en-IN" sz="2400" dirty="0">
                <a:latin typeface="Algerian" panose="04020705040A02060702" pitchFamily="82" charset="0"/>
              </a:rPr>
              <a:t>Overall Insights OF CHART :</a:t>
            </a:r>
          </a:p>
        </p:txBody>
      </p:sp>
      <p:sp>
        <p:nvSpPr>
          <p:cNvPr id="5" name="TextBox 4">
            <a:extLst>
              <a:ext uri="{FF2B5EF4-FFF2-40B4-BE49-F238E27FC236}">
                <a16:creationId xmlns:a16="http://schemas.microsoft.com/office/drawing/2014/main" id="{D26BA7FC-78BB-5897-F5F8-B4E70B2E4A0F}"/>
              </a:ext>
            </a:extLst>
          </p:cNvPr>
          <p:cNvSpPr txBox="1"/>
          <p:nvPr/>
        </p:nvSpPr>
        <p:spPr>
          <a:xfrm>
            <a:off x="2472813" y="2484622"/>
            <a:ext cx="8976852" cy="1704377"/>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Higher CGPA generally leads to better placement chances.</a:t>
            </a:r>
          </a:p>
          <a:p>
            <a:pPr marL="285750" indent="-285750" algn="just">
              <a:lnSpc>
                <a:spcPct val="150000"/>
              </a:lnSpc>
              <a:buFont typeface="Wingdings" panose="05000000000000000000" pitchFamily="2" charset="2"/>
              <a:buChar char="Ø"/>
            </a:pPr>
            <a:r>
              <a:rPr lang="en-US" dirty="0"/>
              <a:t>Medium CGPA group is the largest population, so improving this segment can significantly raise total placements.</a:t>
            </a:r>
          </a:p>
          <a:p>
            <a:pPr marL="285750" indent="-285750" algn="just">
              <a:lnSpc>
                <a:spcPct val="150000"/>
              </a:lnSpc>
              <a:buFont typeface="Wingdings" panose="05000000000000000000" pitchFamily="2" charset="2"/>
              <a:buChar char="Ø"/>
            </a:pPr>
            <a:r>
              <a:rPr lang="en-US" dirty="0"/>
              <a:t>Low CGPA students are at highest risk of not getting placed.</a:t>
            </a:r>
          </a:p>
        </p:txBody>
      </p:sp>
    </p:spTree>
    <p:extLst>
      <p:ext uri="{BB962C8B-B14F-4D97-AF65-F5344CB8AC3E}">
        <p14:creationId xmlns:p14="http://schemas.microsoft.com/office/powerpoint/2010/main" val="86375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7319068-411B-0134-3917-774B63B59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7267" y="552304"/>
            <a:ext cx="4582164" cy="2095792"/>
          </a:xfrm>
          <a:prstGeom prst="rect">
            <a:avLst/>
          </a:prstGeom>
        </p:spPr>
      </p:pic>
      <p:sp>
        <p:nvSpPr>
          <p:cNvPr id="8" name="TextBox 7">
            <a:extLst>
              <a:ext uri="{FF2B5EF4-FFF2-40B4-BE49-F238E27FC236}">
                <a16:creationId xmlns:a16="http://schemas.microsoft.com/office/drawing/2014/main" id="{568627BC-AEF5-07BB-537E-27C352D46516}"/>
              </a:ext>
            </a:extLst>
          </p:cNvPr>
          <p:cNvSpPr txBox="1"/>
          <p:nvPr/>
        </p:nvSpPr>
        <p:spPr>
          <a:xfrm>
            <a:off x="1042219" y="3059668"/>
            <a:ext cx="10107561" cy="336637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pie chart shows the placement percentage distribution across different branches.</a:t>
            </a:r>
          </a:p>
          <a:p>
            <a:pPr marL="285750" indent="-285750" algn="just">
              <a:lnSpc>
                <a:spcPct val="150000"/>
              </a:lnSpc>
              <a:buFont typeface="Wingdings" panose="05000000000000000000" pitchFamily="2" charset="2"/>
              <a:buChar char="Ø"/>
            </a:pPr>
            <a:r>
              <a:rPr lang="en-US" dirty="0"/>
              <a:t>This chart is used to compare branch-wise placement performance in percentage terms rather than student counts.</a:t>
            </a:r>
          </a:p>
          <a:p>
            <a:pPr marL="285750" indent="-285750" algn="just">
              <a:lnSpc>
                <a:spcPct val="150000"/>
              </a:lnSpc>
              <a:buFont typeface="Wingdings" panose="05000000000000000000" pitchFamily="2" charset="2"/>
              <a:buChar char="Ø"/>
            </a:pPr>
            <a:r>
              <a:rPr lang="en-US" dirty="0"/>
              <a:t>IT has the highest placement percentage </a:t>
            </a:r>
            <a:r>
              <a:rPr lang="en-IN" dirty="0"/>
              <a:t>41.74%</a:t>
            </a:r>
            <a:r>
              <a:rPr lang="en-US" dirty="0"/>
              <a:t>.</a:t>
            </a:r>
          </a:p>
          <a:p>
            <a:pPr marL="285750" indent="-285750" algn="just">
              <a:lnSpc>
                <a:spcPct val="150000"/>
              </a:lnSpc>
              <a:buFont typeface="Wingdings" panose="05000000000000000000" pitchFamily="2" charset="2"/>
              <a:buChar char="Ø"/>
            </a:pPr>
            <a:r>
              <a:rPr lang="en-US" dirty="0"/>
              <a:t>CSE is the second-highest performer </a:t>
            </a:r>
            <a:r>
              <a:rPr lang="en-IN" dirty="0"/>
              <a:t>39.94%</a:t>
            </a:r>
            <a:r>
              <a:rPr lang="en-US" dirty="0"/>
              <a:t>.</a:t>
            </a:r>
          </a:p>
          <a:p>
            <a:pPr marL="285750" indent="-285750" algn="just">
              <a:lnSpc>
                <a:spcPct val="150000"/>
              </a:lnSpc>
              <a:buFont typeface="Wingdings" panose="05000000000000000000" pitchFamily="2" charset="2"/>
              <a:buChar char="Ø"/>
            </a:pPr>
            <a:r>
              <a:rPr lang="en-IN" dirty="0"/>
              <a:t>ECE performs moderately well 37.55%.</a:t>
            </a:r>
          </a:p>
          <a:p>
            <a:pPr marL="285750" indent="-285750" algn="just">
              <a:lnSpc>
                <a:spcPct val="150000"/>
              </a:lnSpc>
              <a:buFont typeface="Wingdings" panose="05000000000000000000" pitchFamily="2" charset="2"/>
              <a:buChar char="Ø"/>
            </a:pPr>
            <a:r>
              <a:rPr lang="en-US" dirty="0"/>
              <a:t>Mechanical Engineering has average placement performance </a:t>
            </a:r>
            <a:r>
              <a:rPr lang="en-IN" dirty="0"/>
              <a:t>34.22%</a:t>
            </a:r>
            <a:r>
              <a:rPr lang="en-US" dirty="0"/>
              <a:t>.</a:t>
            </a:r>
          </a:p>
          <a:p>
            <a:pPr marL="285750" indent="-285750" algn="just">
              <a:lnSpc>
                <a:spcPct val="150000"/>
              </a:lnSpc>
              <a:buFont typeface="Wingdings" panose="05000000000000000000" pitchFamily="2" charset="2"/>
              <a:buChar char="Ø"/>
            </a:pPr>
            <a:r>
              <a:rPr lang="en-US" dirty="0"/>
              <a:t>Civil has the lowest placement percentage </a:t>
            </a:r>
            <a:r>
              <a:rPr lang="en-IN" dirty="0"/>
              <a:t>27.28%</a:t>
            </a:r>
            <a:r>
              <a:rPr lang="en-US" dirty="0"/>
              <a:t>.</a:t>
            </a:r>
            <a:endParaRPr lang="en-IN" dirty="0"/>
          </a:p>
        </p:txBody>
      </p:sp>
    </p:spTree>
    <p:extLst>
      <p:ext uri="{BB962C8B-B14F-4D97-AF65-F5344CB8AC3E}">
        <p14:creationId xmlns:p14="http://schemas.microsoft.com/office/powerpoint/2010/main" val="2045934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BB6D17-6129-D226-AA36-85440797A263}"/>
              </a:ext>
            </a:extLst>
          </p:cNvPr>
          <p:cNvSpPr txBox="1"/>
          <p:nvPr/>
        </p:nvSpPr>
        <p:spPr>
          <a:xfrm>
            <a:off x="963561" y="1830947"/>
            <a:ext cx="6096000" cy="461665"/>
          </a:xfrm>
          <a:prstGeom prst="rect">
            <a:avLst/>
          </a:prstGeom>
          <a:noFill/>
        </p:spPr>
        <p:txBody>
          <a:bodyPr wrap="square">
            <a:spAutoFit/>
          </a:bodyPr>
          <a:lstStyle/>
          <a:p>
            <a:r>
              <a:rPr lang="en-IN" sz="2400" dirty="0">
                <a:latin typeface="Algerian" panose="04020705040A02060702" pitchFamily="82" charset="0"/>
              </a:rPr>
              <a:t>Overall Insights OF CHART :</a:t>
            </a:r>
          </a:p>
        </p:txBody>
      </p:sp>
      <p:sp>
        <p:nvSpPr>
          <p:cNvPr id="5" name="TextBox 4">
            <a:extLst>
              <a:ext uri="{FF2B5EF4-FFF2-40B4-BE49-F238E27FC236}">
                <a16:creationId xmlns:a16="http://schemas.microsoft.com/office/drawing/2014/main" id="{40B26CB7-E148-3B96-70E7-2C15823ABA26}"/>
              </a:ext>
            </a:extLst>
          </p:cNvPr>
          <p:cNvSpPr txBox="1"/>
          <p:nvPr/>
        </p:nvSpPr>
        <p:spPr>
          <a:xfrm>
            <a:off x="2674373" y="2467501"/>
            <a:ext cx="9026013" cy="87338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Technology-related branches (</a:t>
            </a:r>
            <a:r>
              <a:rPr lang="en-US" b="1" dirty="0"/>
              <a:t>IT, CSE</a:t>
            </a:r>
            <a:r>
              <a:rPr lang="en-US" dirty="0"/>
              <a:t>) lead placement performance.</a:t>
            </a:r>
          </a:p>
          <a:p>
            <a:pPr marL="285750" indent="-285750" algn="just">
              <a:lnSpc>
                <a:spcPct val="150000"/>
              </a:lnSpc>
              <a:buFont typeface="Wingdings" panose="05000000000000000000" pitchFamily="2" charset="2"/>
              <a:buChar char="Ø"/>
            </a:pPr>
            <a:r>
              <a:rPr lang="en-US" dirty="0"/>
              <a:t>Core branches (</a:t>
            </a:r>
            <a:r>
              <a:rPr lang="en-US" b="1" dirty="0"/>
              <a:t>Civil, Mechanical</a:t>
            </a:r>
            <a:r>
              <a:rPr lang="en-US" dirty="0"/>
              <a:t>) have lower placement percentages.</a:t>
            </a:r>
          </a:p>
        </p:txBody>
      </p:sp>
    </p:spTree>
    <p:extLst>
      <p:ext uri="{BB962C8B-B14F-4D97-AF65-F5344CB8AC3E}">
        <p14:creationId xmlns:p14="http://schemas.microsoft.com/office/powerpoint/2010/main" val="4200708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DE5C4B-944F-9BA9-849C-FF20B041E0B7}"/>
              </a:ext>
            </a:extLst>
          </p:cNvPr>
          <p:cNvSpPr txBox="1"/>
          <p:nvPr/>
        </p:nvSpPr>
        <p:spPr>
          <a:xfrm>
            <a:off x="4159045" y="619432"/>
            <a:ext cx="2975495" cy="461665"/>
          </a:xfrm>
          <a:prstGeom prst="rect">
            <a:avLst/>
          </a:prstGeom>
          <a:noFill/>
        </p:spPr>
        <p:txBody>
          <a:bodyPr wrap="none" rtlCol="0">
            <a:spAutoFit/>
          </a:bodyPr>
          <a:lstStyle/>
          <a:p>
            <a:r>
              <a:rPr lang="en-IN" sz="2400" b="1" dirty="0">
                <a:latin typeface="Algerian" panose="04020705040A02060702" pitchFamily="82" charset="0"/>
              </a:rPr>
              <a:t>OVERALL INSIGHTS </a:t>
            </a:r>
          </a:p>
        </p:txBody>
      </p:sp>
      <p:sp>
        <p:nvSpPr>
          <p:cNvPr id="4" name="TextBox 3">
            <a:extLst>
              <a:ext uri="{FF2B5EF4-FFF2-40B4-BE49-F238E27FC236}">
                <a16:creationId xmlns:a16="http://schemas.microsoft.com/office/drawing/2014/main" id="{0C2A24C6-1F21-ED8B-92BF-7B5A32AAF702}"/>
              </a:ext>
            </a:extLst>
          </p:cNvPr>
          <p:cNvSpPr txBox="1"/>
          <p:nvPr/>
        </p:nvSpPr>
        <p:spPr>
          <a:xfrm>
            <a:off x="1494504" y="1368831"/>
            <a:ext cx="9399638" cy="4524315"/>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Technical branches currently have stronger job mark</a:t>
            </a:r>
          </a:p>
          <a:p>
            <a:pPr marL="285750" indent="-285750" algn="just">
              <a:lnSpc>
                <a:spcPct val="150000"/>
              </a:lnSpc>
              <a:buFont typeface="Wingdings" panose="05000000000000000000" pitchFamily="2" charset="2"/>
              <a:buChar char="Ø"/>
            </a:pPr>
            <a:r>
              <a:rPr lang="en-US" dirty="0"/>
              <a:t>The institution provides balanced placement opportunities across gender.</a:t>
            </a:r>
          </a:p>
          <a:p>
            <a:pPr marL="285750" indent="-285750" algn="just">
              <a:lnSpc>
                <a:spcPct val="150000"/>
              </a:lnSpc>
              <a:buFont typeface="Wingdings" panose="05000000000000000000" pitchFamily="2" charset="2"/>
              <a:buChar char="Ø"/>
            </a:pPr>
            <a:r>
              <a:rPr lang="en-US" dirty="0"/>
              <a:t>Medium CGPA students are the largest opportunity group for improvement.</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t>Lower placement rates in Civil and ME branches </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t>Need to convert medium CGPA students into higher placement success </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US" altLang="en-US" dirty="0"/>
              <a:t>Low outcomes for low CGPA students</a:t>
            </a:r>
          </a:p>
          <a:p>
            <a:pPr marL="285750" lvl="0" indent="-285750" algn="just" defTabSz="914400" eaLnBrk="0" fontAlgn="base" hangingPunct="0">
              <a:lnSpc>
                <a:spcPct val="150000"/>
              </a:lnSpc>
              <a:spcBef>
                <a:spcPct val="0"/>
              </a:spcBef>
              <a:spcAft>
                <a:spcPct val="0"/>
              </a:spcAft>
              <a:buFont typeface="Wingdings" panose="05000000000000000000" pitchFamily="2" charset="2"/>
              <a:buChar char="Ø"/>
            </a:pPr>
            <a:r>
              <a:rPr lang="en-US" dirty="0"/>
              <a:t>Overall, IT and CSE perform best, placements are balanced across gender, higher CGPA improves success, and lower-performing branches need targeted support. With training and internships, placements can improve further.”</a:t>
            </a:r>
            <a:r>
              <a:rPr lang="en-US" altLang="en-US" dirty="0"/>
              <a:t> </a:t>
            </a:r>
          </a:p>
          <a:p>
            <a:pPr marL="285750" indent="-285750">
              <a:lnSpc>
                <a:spcPct val="150000"/>
              </a:lnSpc>
              <a:buFont typeface="Wingdings" panose="05000000000000000000" pitchFamily="2" charset="2"/>
              <a:buChar char="Ø"/>
            </a:pPr>
            <a:endParaRPr lang="en-US"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197474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8E5FE9-F283-4E4E-825B-3479866385E9}"/>
              </a:ext>
            </a:extLst>
          </p:cNvPr>
          <p:cNvSpPr txBox="1"/>
          <p:nvPr/>
        </p:nvSpPr>
        <p:spPr>
          <a:xfrm>
            <a:off x="3805084" y="2765011"/>
            <a:ext cx="6096000" cy="584775"/>
          </a:xfrm>
          <a:prstGeom prst="rect">
            <a:avLst/>
          </a:prstGeom>
          <a:noFill/>
        </p:spPr>
        <p:txBody>
          <a:bodyPr wrap="square">
            <a:spAutoFit/>
          </a:bodyPr>
          <a:lstStyle/>
          <a:p>
            <a:r>
              <a:rPr lang="en-IN" sz="3200" b="1" dirty="0">
                <a:latin typeface="Algerian" panose="04020705040A02060702" pitchFamily="82" charset="0"/>
                <a:cs typeface="Times New Roman" panose="02020603050405020304" pitchFamily="18" charset="0"/>
              </a:rPr>
              <a:t>PERFORMANCE ANALYSIS </a:t>
            </a:r>
          </a:p>
        </p:txBody>
      </p:sp>
    </p:spTree>
    <p:extLst>
      <p:ext uri="{BB962C8B-B14F-4D97-AF65-F5344CB8AC3E}">
        <p14:creationId xmlns:p14="http://schemas.microsoft.com/office/powerpoint/2010/main" val="260055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0E7D55-1903-4257-D14F-D3E761226C65}"/>
              </a:ext>
            </a:extLst>
          </p:cNvPr>
          <p:cNvSpPr txBox="1"/>
          <p:nvPr/>
        </p:nvSpPr>
        <p:spPr>
          <a:xfrm>
            <a:off x="521110" y="1327355"/>
            <a:ext cx="5078634" cy="461665"/>
          </a:xfrm>
          <a:prstGeom prst="rect">
            <a:avLst/>
          </a:prstGeom>
          <a:noFill/>
        </p:spPr>
        <p:txBody>
          <a:bodyPr wrap="none" rtlCol="0">
            <a:spAutoFit/>
          </a:bodyPr>
          <a:lstStyle/>
          <a:p>
            <a:r>
              <a:rPr lang="en-IN" sz="2400" b="1" dirty="0">
                <a:latin typeface="Algerian" panose="04020705040A02060702" pitchFamily="82" charset="0"/>
              </a:rPr>
              <a:t>ABOUT PERFORMANCE ANALYSIS :</a:t>
            </a:r>
          </a:p>
        </p:txBody>
      </p:sp>
      <p:sp>
        <p:nvSpPr>
          <p:cNvPr id="4" name="TextBox 3">
            <a:extLst>
              <a:ext uri="{FF2B5EF4-FFF2-40B4-BE49-F238E27FC236}">
                <a16:creationId xmlns:a16="http://schemas.microsoft.com/office/drawing/2014/main" id="{9C60EDEE-8360-BEB2-B4D3-A9A30B310C8A}"/>
              </a:ext>
            </a:extLst>
          </p:cNvPr>
          <p:cNvSpPr txBox="1"/>
          <p:nvPr/>
        </p:nvSpPr>
        <p:spPr>
          <a:xfrm>
            <a:off x="2694039" y="1975039"/>
            <a:ext cx="8976852" cy="1704377"/>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The Performance Analysis dashboard focuses on evaluating the key academic and practical factors that influence student placements.</a:t>
            </a:r>
          </a:p>
          <a:p>
            <a:pPr marL="285750" indent="-285750" algn="just">
              <a:lnSpc>
                <a:spcPct val="150000"/>
              </a:lnSpc>
              <a:buFont typeface="Wingdings" panose="05000000000000000000" pitchFamily="2" charset="2"/>
              <a:buChar char="Ø"/>
            </a:pPr>
            <a:r>
              <a:rPr lang="en-US" dirty="0"/>
              <a:t>It helps measure how student performance impacts employability and placement success.</a:t>
            </a:r>
          </a:p>
        </p:txBody>
      </p:sp>
    </p:spTree>
    <p:extLst>
      <p:ext uri="{BB962C8B-B14F-4D97-AF65-F5344CB8AC3E}">
        <p14:creationId xmlns:p14="http://schemas.microsoft.com/office/powerpoint/2010/main" val="1914792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FEB32A0-D339-D241-8D55-ADDB1E8D10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5418" y="419515"/>
            <a:ext cx="4401164" cy="2600688"/>
          </a:xfrm>
          <a:prstGeom prst="rect">
            <a:avLst/>
          </a:prstGeom>
        </p:spPr>
      </p:pic>
      <p:sp>
        <p:nvSpPr>
          <p:cNvPr id="4" name="TextBox 3">
            <a:extLst>
              <a:ext uri="{FF2B5EF4-FFF2-40B4-BE49-F238E27FC236}">
                <a16:creationId xmlns:a16="http://schemas.microsoft.com/office/drawing/2014/main" id="{FDC6213B-E2C4-EE61-D792-964088183650}"/>
              </a:ext>
            </a:extLst>
          </p:cNvPr>
          <p:cNvSpPr txBox="1"/>
          <p:nvPr/>
        </p:nvSpPr>
        <p:spPr>
          <a:xfrm>
            <a:off x="678425" y="3072114"/>
            <a:ext cx="11385755" cy="336637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is a Tree map chart that shows the relationship between internship category and placement outcomes.</a:t>
            </a:r>
          </a:p>
          <a:p>
            <a:pPr marL="285750" indent="-285750" algn="just">
              <a:lnSpc>
                <a:spcPct val="150000"/>
              </a:lnSpc>
              <a:buFont typeface="Wingdings" panose="05000000000000000000" pitchFamily="2" charset="2"/>
              <a:buChar char="Ø"/>
            </a:pPr>
            <a:r>
              <a:rPr lang="en-US" dirty="0"/>
              <a:t>A tree map is used to compare categories visually based on size.”</a:t>
            </a:r>
          </a:p>
          <a:p>
            <a:pPr marL="285750" indent="-285750" algn="just">
              <a:lnSpc>
                <a:spcPct val="150000"/>
              </a:lnSpc>
              <a:buFont typeface="Wingdings" panose="05000000000000000000" pitchFamily="2" charset="2"/>
              <a:buChar char="Ø"/>
            </a:pPr>
            <a:r>
              <a:rPr lang="en-IN" dirty="0"/>
              <a:t>Work Experience (2-3) category </a:t>
            </a:r>
            <a:r>
              <a:rPr lang="en-US" dirty="0"/>
              <a:t>Students with prior work experience have the strongest placement outcomes.</a:t>
            </a:r>
          </a:p>
          <a:p>
            <a:pPr marL="285750" indent="-285750" algn="just">
              <a:lnSpc>
                <a:spcPct val="150000"/>
              </a:lnSpc>
              <a:buFont typeface="Wingdings" panose="05000000000000000000" pitchFamily="2" charset="2"/>
              <a:buChar char="Ø"/>
            </a:pPr>
            <a:r>
              <a:rPr lang="en-IN" dirty="0"/>
              <a:t>Internship Experience(1) category  </a:t>
            </a:r>
            <a:r>
              <a:rPr lang="en-US" dirty="0"/>
              <a:t>Students who completed internships perform better than students without experience.</a:t>
            </a:r>
          </a:p>
          <a:p>
            <a:pPr marL="285750" indent="-285750" algn="just">
              <a:lnSpc>
                <a:spcPct val="150000"/>
              </a:lnSpc>
              <a:buFont typeface="Wingdings" panose="05000000000000000000" pitchFamily="2" charset="2"/>
              <a:buChar char="Ø"/>
            </a:pPr>
            <a:r>
              <a:rPr lang="en-IN" dirty="0"/>
              <a:t>No Internship (0) category  </a:t>
            </a:r>
            <a:r>
              <a:rPr lang="en-US" dirty="0"/>
              <a:t>Students without internship exposure have lower placement outcomes.</a:t>
            </a:r>
            <a:endParaRPr lang="en-IN" dirty="0"/>
          </a:p>
        </p:txBody>
      </p:sp>
    </p:spTree>
    <p:extLst>
      <p:ext uri="{BB962C8B-B14F-4D97-AF65-F5344CB8AC3E}">
        <p14:creationId xmlns:p14="http://schemas.microsoft.com/office/powerpoint/2010/main" val="3331131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9C84C4-5052-508B-9B51-8921EEC5D21D}"/>
              </a:ext>
            </a:extLst>
          </p:cNvPr>
          <p:cNvSpPr txBox="1"/>
          <p:nvPr/>
        </p:nvSpPr>
        <p:spPr>
          <a:xfrm>
            <a:off x="914400" y="1457321"/>
            <a:ext cx="6096000" cy="461665"/>
          </a:xfrm>
          <a:prstGeom prst="rect">
            <a:avLst/>
          </a:prstGeom>
          <a:noFill/>
        </p:spPr>
        <p:txBody>
          <a:bodyPr wrap="square">
            <a:spAutoFit/>
          </a:bodyPr>
          <a:lstStyle/>
          <a:p>
            <a:r>
              <a:rPr lang="en-IN" sz="2400" dirty="0">
                <a:latin typeface="Algerian" panose="04020705040A02060702" pitchFamily="82" charset="0"/>
              </a:rPr>
              <a:t>Overall Insights OF CHART :</a:t>
            </a:r>
          </a:p>
        </p:txBody>
      </p:sp>
      <p:sp>
        <p:nvSpPr>
          <p:cNvPr id="5" name="TextBox 4">
            <a:extLst>
              <a:ext uri="{FF2B5EF4-FFF2-40B4-BE49-F238E27FC236}">
                <a16:creationId xmlns:a16="http://schemas.microsoft.com/office/drawing/2014/main" id="{2D126834-DBC6-6127-A5FE-BCE6D6754860}"/>
              </a:ext>
            </a:extLst>
          </p:cNvPr>
          <p:cNvSpPr txBox="1"/>
          <p:nvPr/>
        </p:nvSpPr>
        <p:spPr>
          <a:xfrm>
            <a:off x="2959510" y="2269159"/>
            <a:ext cx="8917858" cy="1704377"/>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Students with </a:t>
            </a:r>
            <a:r>
              <a:rPr lang="en-US" b="1" dirty="0"/>
              <a:t>Work Experience</a:t>
            </a:r>
            <a:r>
              <a:rPr lang="en-US" dirty="0"/>
              <a:t> perform best.</a:t>
            </a:r>
          </a:p>
          <a:p>
            <a:pPr marL="285750" indent="-285750" algn="just">
              <a:lnSpc>
                <a:spcPct val="150000"/>
              </a:lnSpc>
              <a:buFont typeface="Wingdings" panose="05000000000000000000" pitchFamily="2" charset="2"/>
              <a:buChar char="Ø"/>
            </a:pPr>
            <a:r>
              <a:rPr lang="en-US" dirty="0"/>
              <a:t>Students with </a:t>
            </a:r>
            <a:r>
              <a:rPr lang="en-US" b="1" dirty="0"/>
              <a:t>Internship Experience</a:t>
            </a:r>
            <a:r>
              <a:rPr lang="en-US" dirty="0"/>
              <a:t> also show good placement success.</a:t>
            </a:r>
          </a:p>
          <a:p>
            <a:pPr marL="285750" indent="-285750" algn="just">
              <a:lnSpc>
                <a:spcPct val="150000"/>
              </a:lnSpc>
              <a:buFont typeface="Wingdings" panose="05000000000000000000" pitchFamily="2" charset="2"/>
              <a:buChar char="Ø"/>
            </a:pPr>
            <a:r>
              <a:rPr lang="en-US" dirty="0"/>
              <a:t>Students with </a:t>
            </a:r>
            <a:r>
              <a:rPr lang="en-US" b="1" dirty="0"/>
              <a:t>No Internship</a:t>
            </a:r>
            <a:r>
              <a:rPr lang="en-US" dirty="0"/>
              <a:t> have the weakest outcomes.</a:t>
            </a:r>
          </a:p>
          <a:p>
            <a:pPr marL="285750" indent="-285750" algn="just">
              <a:lnSpc>
                <a:spcPct val="150000"/>
              </a:lnSpc>
              <a:buFont typeface="Wingdings" panose="05000000000000000000" pitchFamily="2" charset="2"/>
              <a:buChar char="Ø"/>
            </a:pPr>
            <a:r>
              <a:rPr lang="en-US" dirty="0"/>
              <a:t>Practical exposure is a major driver of placements.</a:t>
            </a:r>
          </a:p>
        </p:txBody>
      </p:sp>
    </p:spTree>
    <p:extLst>
      <p:ext uri="{BB962C8B-B14F-4D97-AF65-F5344CB8AC3E}">
        <p14:creationId xmlns:p14="http://schemas.microsoft.com/office/powerpoint/2010/main" val="2410336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56BB2A8-4680-43C8-0C6C-7A320AA62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0497" y="408708"/>
            <a:ext cx="4296375" cy="2581635"/>
          </a:xfrm>
          <a:prstGeom prst="rect">
            <a:avLst/>
          </a:prstGeom>
        </p:spPr>
      </p:pic>
      <p:sp>
        <p:nvSpPr>
          <p:cNvPr id="4" name="TextBox 3">
            <a:extLst>
              <a:ext uri="{FF2B5EF4-FFF2-40B4-BE49-F238E27FC236}">
                <a16:creationId xmlns:a16="http://schemas.microsoft.com/office/drawing/2014/main" id="{CF967284-E376-3036-BDD3-D540B92969B8}"/>
              </a:ext>
            </a:extLst>
          </p:cNvPr>
          <p:cNvSpPr txBox="1"/>
          <p:nvPr/>
        </p:nvSpPr>
        <p:spPr>
          <a:xfrm>
            <a:off x="875071" y="3244334"/>
            <a:ext cx="9586452" cy="295087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clustered column chart compares project category with two important metrics.</a:t>
            </a:r>
          </a:p>
          <a:p>
            <a:pPr marL="285750" indent="-285750" algn="just">
              <a:lnSpc>
                <a:spcPct val="150000"/>
              </a:lnSpc>
              <a:buFont typeface="Wingdings" panose="05000000000000000000" pitchFamily="2" charset="2"/>
              <a:buChar char="Ø"/>
            </a:pPr>
            <a:r>
              <a:rPr lang="en-US" dirty="0"/>
              <a:t>This chart is used to compare categories side by side.</a:t>
            </a:r>
          </a:p>
          <a:p>
            <a:pPr marL="285750" indent="-285750" algn="just">
              <a:lnSpc>
                <a:spcPct val="150000"/>
              </a:lnSpc>
              <a:buFont typeface="Wingdings" panose="05000000000000000000" pitchFamily="2" charset="2"/>
              <a:buChar char="Ø"/>
            </a:pPr>
            <a:r>
              <a:rPr lang="en-IN" dirty="0"/>
              <a:t>Advanced Projects ( more than 4 ) category  </a:t>
            </a:r>
            <a:r>
              <a:rPr lang="en-US" dirty="0"/>
              <a:t>Highest number of projects and highest placed students.</a:t>
            </a:r>
          </a:p>
          <a:p>
            <a:pPr marL="285750" indent="-285750" algn="just">
              <a:lnSpc>
                <a:spcPct val="150000"/>
              </a:lnSpc>
              <a:buFont typeface="Wingdings" panose="05000000000000000000" pitchFamily="2" charset="2"/>
              <a:buChar char="Ø"/>
            </a:pPr>
            <a:r>
              <a:rPr lang="en-IN" dirty="0"/>
              <a:t>Intermediate Projects (2-3) category  </a:t>
            </a:r>
            <a:r>
              <a:rPr lang="en-US" dirty="0"/>
              <a:t>Moderate number of projects and fewer placed students than advanced.</a:t>
            </a:r>
          </a:p>
          <a:p>
            <a:pPr marL="285750" indent="-285750" algn="just">
              <a:lnSpc>
                <a:spcPct val="150000"/>
              </a:lnSpc>
              <a:buFont typeface="Wingdings" panose="05000000000000000000" pitchFamily="2" charset="2"/>
              <a:buChar char="Ø"/>
            </a:pPr>
            <a:r>
              <a:rPr lang="en-IN" dirty="0"/>
              <a:t>No Experience </a:t>
            </a:r>
            <a:r>
              <a:rPr lang="en-US" dirty="0"/>
              <a:t>Very </a:t>
            </a:r>
            <a:r>
              <a:rPr lang="en-IN" dirty="0"/>
              <a:t>category</a:t>
            </a:r>
            <a:r>
              <a:rPr lang="en-US" dirty="0"/>
              <a:t> low or nearly zero projects and lowest placed students.</a:t>
            </a:r>
            <a:endParaRPr lang="en-IN" dirty="0"/>
          </a:p>
        </p:txBody>
      </p:sp>
    </p:spTree>
    <p:extLst>
      <p:ext uri="{BB962C8B-B14F-4D97-AF65-F5344CB8AC3E}">
        <p14:creationId xmlns:p14="http://schemas.microsoft.com/office/powerpoint/2010/main" val="2799907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FFAE47-DA78-9ECD-BA05-CC4A0EE73192}"/>
              </a:ext>
            </a:extLst>
          </p:cNvPr>
          <p:cNvSpPr txBox="1"/>
          <p:nvPr/>
        </p:nvSpPr>
        <p:spPr>
          <a:xfrm>
            <a:off x="1022555" y="1241011"/>
            <a:ext cx="6096000" cy="461665"/>
          </a:xfrm>
          <a:prstGeom prst="rect">
            <a:avLst/>
          </a:prstGeom>
          <a:noFill/>
        </p:spPr>
        <p:txBody>
          <a:bodyPr wrap="square">
            <a:spAutoFit/>
          </a:bodyPr>
          <a:lstStyle/>
          <a:p>
            <a:r>
              <a:rPr lang="en-IN" sz="2400" dirty="0">
                <a:latin typeface="Algerian" panose="04020705040A02060702" pitchFamily="82" charset="0"/>
              </a:rPr>
              <a:t>Overall Insights OF CHART :</a:t>
            </a:r>
          </a:p>
        </p:txBody>
      </p:sp>
      <p:sp>
        <p:nvSpPr>
          <p:cNvPr id="5" name="TextBox 4">
            <a:extLst>
              <a:ext uri="{FF2B5EF4-FFF2-40B4-BE49-F238E27FC236}">
                <a16:creationId xmlns:a16="http://schemas.microsoft.com/office/drawing/2014/main" id="{33E2A8DB-66FD-A57C-3888-3675C44986AD}"/>
              </a:ext>
            </a:extLst>
          </p:cNvPr>
          <p:cNvSpPr txBox="1"/>
          <p:nvPr/>
        </p:nvSpPr>
        <p:spPr>
          <a:xfrm>
            <a:off x="2615380" y="2083194"/>
            <a:ext cx="9438969" cy="211987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There is a clear positive relationship between </a:t>
            </a:r>
            <a:r>
              <a:rPr lang="en-US" b="1" dirty="0"/>
              <a:t>project experience and placement success</a:t>
            </a:r>
            <a:r>
              <a:rPr lang="en-US" dirty="0"/>
              <a:t>.</a:t>
            </a:r>
          </a:p>
          <a:p>
            <a:pPr marL="285750" indent="-285750" algn="just">
              <a:lnSpc>
                <a:spcPct val="150000"/>
              </a:lnSpc>
              <a:buFont typeface="Wingdings" panose="05000000000000000000" pitchFamily="2" charset="2"/>
              <a:buChar char="Ø"/>
            </a:pPr>
            <a:r>
              <a:rPr lang="en-US" dirty="0"/>
              <a:t>Advanced project students have the best outcomes.</a:t>
            </a:r>
          </a:p>
          <a:p>
            <a:pPr marL="285750" indent="-285750" algn="just">
              <a:lnSpc>
                <a:spcPct val="150000"/>
              </a:lnSpc>
              <a:buFont typeface="Wingdings" panose="05000000000000000000" pitchFamily="2" charset="2"/>
              <a:buChar char="Ø"/>
            </a:pPr>
            <a:r>
              <a:rPr lang="en-US" dirty="0"/>
              <a:t>Intermediate students have average outcomes.</a:t>
            </a:r>
          </a:p>
          <a:p>
            <a:pPr marL="285750" indent="-285750" algn="just">
              <a:lnSpc>
                <a:spcPct val="150000"/>
              </a:lnSpc>
              <a:buFont typeface="Wingdings" panose="05000000000000000000" pitchFamily="2" charset="2"/>
              <a:buChar char="Ø"/>
            </a:pPr>
            <a:r>
              <a:rPr lang="en-US" dirty="0"/>
              <a:t>No experience students have the weakest outcomes.</a:t>
            </a:r>
          </a:p>
        </p:txBody>
      </p:sp>
    </p:spTree>
    <p:extLst>
      <p:ext uri="{BB962C8B-B14F-4D97-AF65-F5344CB8AC3E}">
        <p14:creationId xmlns:p14="http://schemas.microsoft.com/office/powerpoint/2010/main" val="3907888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EF2CBA-5517-E577-00F6-B29E0C538B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7884" y="461564"/>
            <a:ext cx="4324954" cy="2715004"/>
          </a:xfrm>
          <a:prstGeom prst="rect">
            <a:avLst/>
          </a:prstGeom>
        </p:spPr>
      </p:pic>
      <p:sp>
        <p:nvSpPr>
          <p:cNvPr id="4" name="TextBox 3">
            <a:extLst>
              <a:ext uri="{FF2B5EF4-FFF2-40B4-BE49-F238E27FC236}">
                <a16:creationId xmlns:a16="http://schemas.microsoft.com/office/drawing/2014/main" id="{B9AD8974-637D-67FC-DCCC-75E008F0F0D7}"/>
              </a:ext>
            </a:extLst>
          </p:cNvPr>
          <p:cNvSpPr txBox="1"/>
          <p:nvPr/>
        </p:nvSpPr>
        <p:spPr>
          <a:xfrm>
            <a:off x="1204451" y="3263998"/>
            <a:ext cx="10353368" cy="211987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column chart compares </a:t>
            </a:r>
            <a:r>
              <a:rPr lang="en-US" b="1" dirty="0"/>
              <a:t>coding skill categories</a:t>
            </a:r>
            <a:r>
              <a:rPr lang="en-US" dirty="0"/>
              <a:t> with two metrics.</a:t>
            </a:r>
          </a:p>
          <a:p>
            <a:pPr marL="285750" indent="-285750" algn="just">
              <a:lnSpc>
                <a:spcPct val="150000"/>
              </a:lnSpc>
              <a:buFont typeface="Wingdings" panose="05000000000000000000" pitchFamily="2" charset="2"/>
              <a:buChar char="Ø"/>
            </a:pPr>
            <a:r>
              <a:rPr lang="en-US" dirty="0"/>
              <a:t>This chart is used to compare different coding skill groups side by side.</a:t>
            </a:r>
          </a:p>
          <a:p>
            <a:pPr marL="285750" indent="-285750" algn="just">
              <a:lnSpc>
                <a:spcPct val="150000"/>
              </a:lnSpc>
              <a:buFont typeface="Wingdings" panose="05000000000000000000" pitchFamily="2" charset="2"/>
              <a:buChar char="Ø"/>
            </a:pPr>
            <a:r>
              <a:rPr lang="en-IN" dirty="0"/>
              <a:t>Experience ( 7-10  ) category </a:t>
            </a:r>
            <a:r>
              <a:rPr lang="en-US" dirty="0"/>
              <a:t>Highest total coding skill score and highest placed students.</a:t>
            </a:r>
          </a:p>
          <a:p>
            <a:pPr marL="285750" indent="-285750" algn="just">
              <a:lnSpc>
                <a:spcPct val="150000"/>
              </a:lnSpc>
              <a:buFont typeface="Wingdings" panose="05000000000000000000" pitchFamily="2" charset="2"/>
              <a:buChar char="Ø"/>
            </a:pPr>
            <a:r>
              <a:rPr lang="en-IN" dirty="0"/>
              <a:t>Beginners (4-6) category </a:t>
            </a:r>
            <a:r>
              <a:rPr lang="en-US" dirty="0"/>
              <a:t>Slightly lower than experience category.</a:t>
            </a:r>
          </a:p>
          <a:p>
            <a:pPr marL="285750" indent="-285750" algn="just">
              <a:lnSpc>
                <a:spcPct val="150000"/>
              </a:lnSpc>
              <a:buFont typeface="Wingdings" panose="05000000000000000000" pitchFamily="2" charset="2"/>
              <a:buChar char="Ø"/>
            </a:pPr>
            <a:r>
              <a:rPr lang="en-IN" dirty="0"/>
              <a:t>Intermediate category </a:t>
            </a:r>
            <a:r>
              <a:rPr lang="en-US" dirty="0"/>
              <a:t>Lowest total score and lowest placed students.</a:t>
            </a:r>
            <a:endParaRPr lang="en-IN" dirty="0"/>
          </a:p>
        </p:txBody>
      </p:sp>
    </p:spTree>
    <p:extLst>
      <p:ext uri="{BB962C8B-B14F-4D97-AF65-F5344CB8AC3E}">
        <p14:creationId xmlns:p14="http://schemas.microsoft.com/office/powerpoint/2010/main" val="871978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DABE58-6DDA-3A3A-02CE-70820B3FFABA}"/>
              </a:ext>
            </a:extLst>
          </p:cNvPr>
          <p:cNvSpPr txBox="1"/>
          <p:nvPr/>
        </p:nvSpPr>
        <p:spPr>
          <a:xfrm>
            <a:off x="855407" y="1260676"/>
            <a:ext cx="6096000" cy="461665"/>
          </a:xfrm>
          <a:prstGeom prst="rect">
            <a:avLst/>
          </a:prstGeom>
          <a:noFill/>
        </p:spPr>
        <p:txBody>
          <a:bodyPr wrap="square">
            <a:spAutoFit/>
          </a:bodyPr>
          <a:lstStyle/>
          <a:p>
            <a:pPr marL="0" algn="l" rtl="0" eaLnBrk="1" latinLnBrk="0" hangingPunct="1">
              <a:buNone/>
            </a:pPr>
            <a:r>
              <a:rPr lang="en-IN" sz="2400" kern="1200" dirty="0">
                <a:solidFill>
                  <a:srgbClr val="FFFFFF"/>
                </a:solidFill>
                <a:effectLst/>
                <a:latin typeface="Algerian" panose="04020705040A02060702" pitchFamily="82" charset="0"/>
                <a:ea typeface="+mn-ea"/>
                <a:cs typeface="+mn-cs"/>
              </a:rPr>
              <a:t>Overall Insights OF CHART :</a:t>
            </a:r>
            <a:endParaRPr lang="en-IN" sz="2400" dirty="0">
              <a:effectLst/>
            </a:endParaRPr>
          </a:p>
        </p:txBody>
      </p:sp>
      <p:sp>
        <p:nvSpPr>
          <p:cNvPr id="5" name="TextBox 4">
            <a:extLst>
              <a:ext uri="{FF2B5EF4-FFF2-40B4-BE49-F238E27FC236}">
                <a16:creationId xmlns:a16="http://schemas.microsoft.com/office/drawing/2014/main" id="{D7FA6FCA-4760-3E9D-B8BE-7FAE493974B1}"/>
              </a:ext>
            </a:extLst>
          </p:cNvPr>
          <p:cNvSpPr txBox="1"/>
          <p:nvPr/>
        </p:nvSpPr>
        <p:spPr>
          <a:xfrm>
            <a:off x="2418736" y="2016912"/>
            <a:ext cx="10137058" cy="2119876"/>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Coding skills have a strong positive impact on placements.</a:t>
            </a:r>
          </a:p>
          <a:p>
            <a:pPr marL="285750" indent="-285750">
              <a:lnSpc>
                <a:spcPct val="150000"/>
              </a:lnSpc>
              <a:buFont typeface="Wingdings" panose="05000000000000000000" pitchFamily="2" charset="2"/>
              <a:buChar char="Ø"/>
            </a:pPr>
            <a:r>
              <a:rPr lang="en-US" dirty="0"/>
              <a:t>Students with experienced coding skills perform best in placements.</a:t>
            </a:r>
          </a:p>
          <a:p>
            <a:pPr marL="285750" indent="-285750">
              <a:lnSpc>
                <a:spcPct val="150000"/>
              </a:lnSpc>
              <a:buFont typeface="Wingdings" panose="05000000000000000000" pitchFamily="2" charset="2"/>
              <a:buChar char="Ø"/>
            </a:pPr>
            <a:r>
              <a:rPr lang="en-US" dirty="0"/>
              <a:t>Beginner-level students also show good placement potential, but less than experienced students.</a:t>
            </a:r>
          </a:p>
          <a:p>
            <a:pPr marL="285750" indent="-285750">
              <a:lnSpc>
                <a:spcPct val="150000"/>
              </a:lnSpc>
              <a:buFont typeface="Wingdings" panose="05000000000000000000" pitchFamily="2" charset="2"/>
              <a:buChar char="Ø"/>
            </a:pPr>
            <a:r>
              <a:rPr lang="en-US" dirty="0"/>
              <a:t>Lower skill groups need training intervention.</a:t>
            </a:r>
            <a:endParaRPr lang="en-IN" dirty="0"/>
          </a:p>
        </p:txBody>
      </p:sp>
    </p:spTree>
    <p:extLst>
      <p:ext uri="{BB962C8B-B14F-4D97-AF65-F5344CB8AC3E}">
        <p14:creationId xmlns:p14="http://schemas.microsoft.com/office/powerpoint/2010/main" val="1371797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14FE7B-81AC-BFBE-8E35-1F93477E3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4413" y="323913"/>
            <a:ext cx="4090220" cy="2715004"/>
          </a:xfrm>
          <a:prstGeom prst="rect">
            <a:avLst/>
          </a:prstGeom>
        </p:spPr>
      </p:pic>
      <p:sp>
        <p:nvSpPr>
          <p:cNvPr id="4" name="TextBox 3">
            <a:extLst>
              <a:ext uri="{FF2B5EF4-FFF2-40B4-BE49-F238E27FC236}">
                <a16:creationId xmlns:a16="http://schemas.microsoft.com/office/drawing/2014/main" id="{682CD098-2421-FBFB-3568-0B776745E750}"/>
              </a:ext>
            </a:extLst>
          </p:cNvPr>
          <p:cNvSpPr txBox="1"/>
          <p:nvPr/>
        </p:nvSpPr>
        <p:spPr>
          <a:xfrm>
            <a:off x="1406013" y="3360923"/>
            <a:ext cx="10481187" cy="211987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100% stacked column chart compares </a:t>
            </a:r>
            <a:r>
              <a:rPr lang="en-US" b="1" dirty="0"/>
              <a:t>placement status</a:t>
            </a:r>
            <a:r>
              <a:rPr lang="en-US" dirty="0"/>
              <a:t> with </a:t>
            </a:r>
            <a:r>
              <a:rPr lang="en-US" b="1" dirty="0"/>
              <a:t>sum of backlogs</a:t>
            </a:r>
            <a:r>
              <a:rPr lang="en-US" dirty="0"/>
              <a:t>.</a:t>
            </a:r>
          </a:p>
          <a:p>
            <a:pPr marL="285750" indent="-285750" algn="just">
              <a:lnSpc>
                <a:spcPct val="150000"/>
              </a:lnSpc>
              <a:buFont typeface="Wingdings" panose="05000000000000000000" pitchFamily="2" charset="2"/>
              <a:buChar char="Ø"/>
            </a:pPr>
            <a:r>
              <a:rPr lang="en-US" dirty="0"/>
              <a:t>This chart helps understand how backlog levels relate to placement outcomes.</a:t>
            </a:r>
          </a:p>
          <a:p>
            <a:pPr marL="285750" indent="-285750" algn="just">
              <a:lnSpc>
                <a:spcPct val="150000"/>
              </a:lnSpc>
              <a:buFont typeface="Wingdings" panose="05000000000000000000" pitchFamily="2" charset="2"/>
              <a:buChar char="Ø"/>
            </a:pPr>
            <a:r>
              <a:rPr lang="en-IN" dirty="0"/>
              <a:t>Placed Category ,</a:t>
            </a:r>
            <a:r>
              <a:rPr lang="en-US" dirty="0"/>
              <a:t>This column shows a significant share of placed students, with a lower relative impact of backlogs.</a:t>
            </a:r>
          </a:p>
          <a:p>
            <a:pPr marL="285750" indent="-285750" algn="just">
              <a:lnSpc>
                <a:spcPct val="150000"/>
              </a:lnSpc>
              <a:buFont typeface="Wingdings" panose="05000000000000000000" pitchFamily="2" charset="2"/>
              <a:buChar char="Ø"/>
            </a:pPr>
            <a:r>
              <a:rPr lang="en-IN" dirty="0"/>
              <a:t>Not Placed Category,</a:t>
            </a:r>
            <a:r>
              <a:rPr lang="en-US" dirty="0"/>
              <a:t> This column is dominated by backlog share.</a:t>
            </a:r>
            <a:endParaRPr lang="en-IN" dirty="0"/>
          </a:p>
        </p:txBody>
      </p:sp>
    </p:spTree>
    <p:extLst>
      <p:ext uri="{BB962C8B-B14F-4D97-AF65-F5344CB8AC3E}">
        <p14:creationId xmlns:p14="http://schemas.microsoft.com/office/powerpoint/2010/main" val="4010041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074011-B30A-CF04-CB9D-8D68F5F9DA20}"/>
              </a:ext>
            </a:extLst>
          </p:cNvPr>
          <p:cNvSpPr txBox="1"/>
          <p:nvPr/>
        </p:nvSpPr>
        <p:spPr>
          <a:xfrm>
            <a:off x="875071" y="1358999"/>
            <a:ext cx="6096000" cy="461665"/>
          </a:xfrm>
          <a:prstGeom prst="rect">
            <a:avLst/>
          </a:prstGeom>
          <a:noFill/>
        </p:spPr>
        <p:txBody>
          <a:bodyPr wrap="square">
            <a:spAutoFit/>
          </a:bodyPr>
          <a:lstStyle/>
          <a:p>
            <a:pPr marL="0" algn="l" rtl="0" eaLnBrk="1" latinLnBrk="0" hangingPunct="1">
              <a:buNone/>
            </a:pPr>
            <a:r>
              <a:rPr lang="en-IN" sz="2400" kern="1200" dirty="0">
                <a:solidFill>
                  <a:srgbClr val="FFFFFF"/>
                </a:solidFill>
                <a:effectLst/>
                <a:latin typeface="Algerian" panose="04020705040A02060702" pitchFamily="82" charset="0"/>
                <a:ea typeface="+mn-ea"/>
                <a:cs typeface="+mn-cs"/>
              </a:rPr>
              <a:t>Overall Insights OF CHART :</a:t>
            </a:r>
            <a:endParaRPr lang="en-IN" sz="2400" dirty="0">
              <a:effectLst/>
            </a:endParaRPr>
          </a:p>
        </p:txBody>
      </p:sp>
      <p:sp>
        <p:nvSpPr>
          <p:cNvPr id="5" name="TextBox 4">
            <a:extLst>
              <a:ext uri="{FF2B5EF4-FFF2-40B4-BE49-F238E27FC236}">
                <a16:creationId xmlns:a16="http://schemas.microsoft.com/office/drawing/2014/main" id="{E3A0A8B1-FFD4-D74C-29D7-7233940C5957}"/>
              </a:ext>
            </a:extLst>
          </p:cNvPr>
          <p:cNvSpPr txBox="1"/>
          <p:nvPr/>
        </p:nvSpPr>
        <p:spPr>
          <a:xfrm>
            <a:off x="3038167" y="1972496"/>
            <a:ext cx="8947355" cy="1704377"/>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Backlogs have a negative relationship with placement success.</a:t>
            </a:r>
          </a:p>
          <a:p>
            <a:pPr marL="285750" indent="-285750" algn="just">
              <a:lnSpc>
                <a:spcPct val="150000"/>
              </a:lnSpc>
              <a:buFont typeface="Wingdings" panose="05000000000000000000" pitchFamily="2" charset="2"/>
              <a:buChar char="Ø"/>
            </a:pPr>
            <a:r>
              <a:rPr lang="en-US" dirty="0"/>
              <a:t>Students with fewer backlogs show better placement outcomes.</a:t>
            </a:r>
          </a:p>
          <a:p>
            <a:pPr marL="285750" indent="-285750" algn="just">
              <a:lnSpc>
                <a:spcPct val="150000"/>
              </a:lnSpc>
              <a:buFont typeface="Wingdings" panose="05000000000000000000" pitchFamily="2" charset="2"/>
              <a:buChar char="Ø"/>
            </a:pPr>
            <a:r>
              <a:rPr lang="en-US" dirty="0"/>
              <a:t>High backlog students are at higher risk of being not placed.</a:t>
            </a:r>
          </a:p>
          <a:p>
            <a:pPr marL="285750" indent="-285750" algn="just">
              <a:lnSpc>
                <a:spcPct val="150000"/>
              </a:lnSpc>
              <a:buFont typeface="Wingdings" panose="05000000000000000000" pitchFamily="2" charset="2"/>
              <a:buChar char="Ø"/>
            </a:pPr>
            <a:r>
              <a:rPr lang="en-US" dirty="0"/>
              <a:t>Recruiters may prefer academically consistent candidates.</a:t>
            </a:r>
          </a:p>
        </p:txBody>
      </p:sp>
    </p:spTree>
    <p:extLst>
      <p:ext uri="{BB962C8B-B14F-4D97-AF65-F5344CB8AC3E}">
        <p14:creationId xmlns:p14="http://schemas.microsoft.com/office/powerpoint/2010/main" val="1408278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A04956-28AE-FFA2-DA7F-A04849C99B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1206" y="323099"/>
            <a:ext cx="4739714" cy="2507734"/>
          </a:xfrm>
          <a:prstGeom prst="rect">
            <a:avLst/>
          </a:prstGeom>
        </p:spPr>
      </p:pic>
      <p:sp>
        <p:nvSpPr>
          <p:cNvPr id="4" name="TextBox 3">
            <a:extLst>
              <a:ext uri="{FF2B5EF4-FFF2-40B4-BE49-F238E27FC236}">
                <a16:creationId xmlns:a16="http://schemas.microsoft.com/office/drawing/2014/main" id="{9F7603AB-7140-FB00-B138-0B42ACE3833C}"/>
              </a:ext>
            </a:extLst>
          </p:cNvPr>
          <p:cNvSpPr txBox="1"/>
          <p:nvPr/>
        </p:nvSpPr>
        <p:spPr>
          <a:xfrm>
            <a:off x="491612" y="2830833"/>
            <a:ext cx="11552904" cy="378186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clustered column chart shows the number of </a:t>
            </a:r>
            <a:r>
              <a:rPr lang="en-US" b="1" dirty="0"/>
              <a:t>placed students</a:t>
            </a:r>
            <a:r>
              <a:rPr lang="en-US" dirty="0"/>
              <a:t> based on two factors.</a:t>
            </a:r>
          </a:p>
          <a:p>
            <a:pPr marL="285750" indent="-285750" algn="just">
              <a:lnSpc>
                <a:spcPct val="150000"/>
              </a:lnSpc>
              <a:buFont typeface="Wingdings" panose="05000000000000000000" pitchFamily="2" charset="2"/>
              <a:buChar char="Ø"/>
            </a:pPr>
            <a:r>
              <a:rPr lang="en-US" dirty="0"/>
              <a:t>This chart helps understand how academics and practical experience together affect placements.</a:t>
            </a:r>
          </a:p>
          <a:p>
            <a:pPr marL="285750" indent="-285750" algn="just">
              <a:lnSpc>
                <a:spcPct val="150000"/>
              </a:lnSpc>
              <a:buFont typeface="Wingdings" panose="05000000000000000000" pitchFamily="2" charset="2"/>
              <a:buChar char="Ø"/>
            </a:pPr>
            <a:r>
              <a:rPr lang="en-US" dirty="0"/>
              <a:t>This chart is used to compare multiple categories side by side.”</a:t>
            </a:r>
          </a:p>
          <a:p>
            <a:pPr marL="285750" indent="-285750" algn="just">
              <a:lnSpc>
                <a:spcPct val="150000"/>
              </a:lnSpc>
              <a:buFont typeface="Wingdings" panose="05000000000000000000" pitchFamily="2" charset="2"/>
              <a:buChar char="Ø"/>
            </a:pPr>
            <a:r>
              <a:rPr lang="en-IN" dirty="0"/>
              <a:t>Internship Experience : </a:t>
            </a:r>
            <a:r>
              <a:rPr lang="en-US" dirty="0"/>
              <a:t>Medium CGPA has the highest placed students , High CGPA also performs strongly.</a:t>
            </a:r>
          </a:p>
          <a:p>
            <a:pPr marL="285750" indent="-285750" algn="just">
              <a:lnSpc>
                <a:spcPct val="150000"/>
              </a:lnSpc>
              <a:buFont typeface="Wingdings" panose="05000000000000000000" pitchFamily="2" charset="2"/>
              <a:buChar char="Ø"/>
            </a:pPr>
            <a:r>
              <a:rPr lang="en-IN" dirty="0"/>
              <a:t>Work Experience Internship : </a:t>
            </a:r>
            <a:r>
              <a:rPr lang="en-US" dirty="0"/>
              <a:t>Medium CGPA higher than High CGPA, Both categories show solid placements.</a:t>
            </a:r>
          </a:p>
          <a:p>
            <a:pPr marL="285750" indent="-285750" algn="just">
              <a:lnSpc>
                <a:spcPct val="150000"/>
              </a:lnSpc>
              <a:buFont typeface="Wingdings" panose="05000000000000000000" pitchFamily="2" charset="2"/>
              <a:buChar char="Ø"/>
            </a:pPr>
            <a:r>
              <a:rPr lang="en-IN" dirty="0"/>
              <a:t>No Internship : </a:t>
            </a:r>
            <a:r>
              <a:rPr lang="en-US" dirty="0"/>
              <a:t>Medium CGPA still has placements , High CGPA is much lower compared to other categories.</a:t>
            </a:r>
            <a:endParaRPr lang="en-IN" dirty="0"/>
          </a:p>
        </p:txBody>
      </p:sp>
    </p:spTree>
    <p:extLst>
      <p:ext uri="{BB962C8B-B14F-4D97-AF65-F5344CB8AC3E}">
        <p14:creationId xmlns:p14="http://schemas.microsoft.com/office/powerpoint/2010/main" val="902862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70ABA8-C6CE-476B-3EE2-0453C69037E1}"/>
              </a:ext>
            </a:extLst>
          </p:cNvPr>
          <p:cNvSpPr txBox="1"/>
          <p:nvPr/>
        </p:nvSpPr>
        <p:spPr>
          <a:xfrm>
            <a:off x="934065" y="1221347"/>
            <a:ext cx="6096000" cy="461665"/>
          </a:xfrm>
          <a:prstGeom prst="rect">
            <a:avLst/>
          </a:prstGeom>
          <a:noFill/>
        </p:spPr>
        <p:txBody>
          <a:bodyPr wrap="square">
            <a:spAutoFit/>
          </a:bodyPr>
          <a:lstStyle/>
          <a:p>
            <a:pPr marL="0" algn="l" rtl="0" eaLnBrk="1" latinLnBrk="0" hangingPunct="1">
              <a:buNone/>
            </a:pPr>
            <a:r>
              <a:rPr lang="en-IN" sz="2400" kern="1200" dirty="0">
                <a:solidFill>
                  <a:srgbClr val="FFFFFF"/>
                </a:solidFill>
                <a:effectLst/>
                <a:latin typeface="Algerian" panose="04020705040A02060702" pitchFamily="82" charset="0"/>
                <a:ea typeface="+mn-ea"/>
                <a:cs typeface="+mn-cs"/>
              </a:rPr>
              <a:t>Overall Insights OF CHART :</a:t>
            </a:r>
            <a:endParaRPr lang="en-IN" sz="2400" dirty="0">
              <a:effectLst/>
            </a:endParaRPr>
          </a:p>
        </p:txBody>
      </p:sp>
      <p:sp>
        <p:nvSpPr>
          <p:cNvPr id="5" name="TextBox 4">
            <a:extLst>
              <a:ext uri="{FF2B5EF4-FFF2-40B4-BE49-F238E27FC236}">
                <a16:creationId xmlns:a16="http://schemas.microsoft.com/office/drawing/2014/main" id="{9C4D2FAE-F610-01B2-9883-2BFD9F10DEDF}"/>
              </a:ext>
            </a:extLst>
          </p:cNvPr>
          <p:cNvSpPr txBox="1"/>
          <p:nvPr/>
        </p:nvSpPr>
        <p:spPr>
          <a:xfrm>
            <a:off x="2458065" y="1962664"/>
            <a:ext cx="9144000" cy="253537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IN" dirty="0"/>
              <a:t>Internship experience improves placement outcomes for both High and Medium CGPA students.</a:t>
            </a:r>
          </a:p>
          <a:p>
            <a:pPr marL="285750" indent="-285750" algn="just">
              <a:lnSpc>
                <a:spcPct val="150000"/>
              </a:lnSpc>
              <a:buFont typeface="Wingdings" panose="05000000000000000000" pitchFamily="2" charset="2"/>
              <a:buChar char="Ø"/>
            </a:pPr>
            <a:r>
              <a:rPr lang="en-IN" dirty="0"/>
              <a:t>Medium CGPA students consistently show higher placement counts (likely larger population size).</a:t>
            </a:r>
          </a:p>
          <a:p>
            <a:pPr marL="285750" indent="-285750" algn="just">
              <a:lnSpc>
                <a:spcPct val="150000"/>
              </a:lnSpc>
              <a:buFont typeface="Wingdings" panose="05000000000000000000" pitchFamily="2" charset="2"/>
              <a:buChar char="Ø"/>
            </a:pPr>
            <a:r>
              <a:rPr lang="en-IN" dirty="0"/>
              <a:t>Students without internships have weaker placement performance.</a:t>
            </a:r>
          </a:p>
          <a:p>
            <a:pPr marL="285750" indent="-285750" algn="just">
              <a:lnSpc>
                <a:spcPct val="150000"/>
              </a:lnSpc>
              <a:buFont typeface="Wingdings" panose="05000000000000000000" pitchFamily="2" charset="2"/>
              <a:buChar char="Ø"/>
            </a:pPr>
            <a:r>
              <a:rPr lang="en-IN" dirty="0"/>
              <a:t>Practical experience can compensate for average academics.</a:t>
            </a:r>
          </a:p>
        </p:txBody>
      </p:sp>
    </p:spTree>
    <p:extLst>
      <p:ext uri="{BB962C8B-B14F-4D97-AF65-F5344CB8AC3E}">
        <p14:creationId xmlns:p14="http://schemas.microsoft.com/office/powerpoint/2010/main" val="1852778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54AC95-BD8B-AFC7-6122-14BF425C7FEF}"/>
              </a:ext>
            </a:extLst>
          </p:cNvPr>
          <p:cNvSpPr txBox="1"/>
          <p:nvPr/>
        </p:nvSpPr>
        <p:spPr>
          <a:xfrm>
            <a:off x="4178710" y="837889"/>
            <a:ext cx="6096000" cy="461665"/>
          </a:xfrm>
          <a:prstGeom prst="rect">
            <a:avLst/>
          </a:prstGeom>
          <a:noFill/>
        </p:spPr>
        <p:txBody>
          <a:bodyPr wrap="square">
            <a:spAutoFit/>
          </a:bodyPr>
          <a:lstStyle/>
          <a:p>
            <a:r>
              <a:rPr lang="en-IN" sz="2400" b="1" dirty="0">
                <a:latin typeface="Algerian" panose="04020705040A02060702" pitchFamily="82" charset="0"/>
              </a:rPr>
              <a:t>OVERALL INSIGHTS </a:t>
            </a:r>
          </a:p>
        </p:txBody>
      </p:sp>
      <p:sp>
        <p:nvSpPr>
          <p:cNvPr id="7" name="TextBox 6">
            <a:extLst>
              <a:ext uri="{FF2B5EF4-FFF2-40B4-BE49-F238E27FC236}">
                <a16:creationId xmlns:a16="http://schemas.microsoft.com/office/drawing/2014/main" id="{7172CE31-B041-3B2E-676C-F1BAAE669182}"/>
              </a:ext>
            </a:extLst>
          </p:cNvPr>
          <p:cNvSpPr txBox="1"/>
          <p:nvPr/>
        </p:nvSpPr>
        <p:spPr>
          <a:xfrm>
            <a:off x="894736" y="1671935"/>
            <a:ext cx="10835148" cy="3693319"/>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Students with </a:t>
            </a:r>
            <a:r>
              <a:rPr lang="en-US" b="1" dirty="0"/>
              <a:t>work experience</a:t>
            </a:r>
            <a:r>
              <a:rPr lang="en-US" dirty="0"/>
              <a:t> and </a:t>
            </a:r>
            <a:r>
              <a:rPr lang="en-US" b="1" dirty="0"/>
              <a:t>internship experience</a:t>
            </a:r>
            <a:r>
              <a:rPr lang="en-US" dirty="0"/>
              <a:t> have better placement outcomes than students with no internship.</a:t>
            </a:r>
          </a:p>
          <a:p>
            <a:pPr marL="285750" indent="-285750" algn="just">
              <a:lnSpc>
                <a:spcPct val="150000"/>
              </a:lnSpc>
              <a:buFont typeface="Wingdings" panose="05000000000000000000" pitchFamily="2" charset="2"/>
              <a:buChar char="Ø"/>
            </a:pPr>
            <a:r>
              <a:rPr lang="en-US" dirty="0"/>
              <a:t>Hands-on project work is highly valued by recruiters.</a:t>
            </a:r>
          </a:p>
          <a:p>
            <a:pPr marL="285750" indent="-285750" algn="just">
              <a:lnSpc>
                <a:spcPct val="150000"/>
              </a:lnSpc>
              <a:buFont typeface="Wingdings" panose="05000000000000000000" pitchFamily="2" charset="2"/>
              <a:buChar char="Ø"/>
            </a:pPr>
            <a:r>
              <a:rPr lang="en-US" dirty="0"/>
              <a:t>Technical skills are a major driver of placement success.</a:t>
            </a:r>
          </a:p>
          <a:p>
            <a:pPr marL="285750" indent="-285750" algn="just">
              <a:lnSpc>
                <a:spcPct val="150000"/>
              </a:lnSpc>
              <a:buFont typeface="Wingdings" panose="05000000000000000000" pitchFamily="2" charset="2"/>
              <a:buChar char="Ø"/>
            </a:pPr>
            <a:r>
              <a:rPr lang="en-US" dirty="0"/>
              <a:t>Academic consistency is important for eligibility and hiring.</a:t>
            </a:r>
          </a:p>
          <a:p>
            <a:pPr marL="285750" indent="-285750" algn="just">
              <a:lnSpc>
                <a:spcPct val="150000"/>
              </a:lnSpc>
              <a:buFont typeface="Wingdings" panose="05000000000000000000" pitchFamily="2" charset="2"/>
              <a:buChar char="Ø"/>
            </a:pPr>
            <a:r>
              <a:rPr lang="en-US" dirty="0"/>
              <a:t>Practical experience can significantly boost placement chances, even for medium CGPA students.</a:t>
            </a:r>
          </a:p>
          <a:p>
            <a:pPr marL="285750" indent="-285750" algn="just">
              <a:lnSpc>
                <a:spcPct val="150000"/>
              </a:lnSpc>
              <a:buFont typeface="Wingdings" panose="05000000000000000000" pitchFamily="2" charset="2"/>
              <a:buChar char="Ø"/>
            </a:pPr>
            <a:r>
              <a:rPr lang="en-US" dirty="0"/>
              <a:t>The Performance Analysis dashboard proves that placements are not based on marks alone. Students who combine academics with skills, internships, and projects have the highest success.</a:t>
            </a:r>
          </a:p>
          <a:p>
            <a:endParaRPr lang="en-IN" dirty="0"/>
          </a:p>
        </p:txBody>
      </p:sp>
    </p:spTree>
    <p:extLst>
      <p:ext uri="{BB962C8B-B14F-4D97-AF65-F5344CB8AC3E}">
        <p14:creationId xmlns:p14="http://schemas.microsoft.com/office/powerpoint/2010/main" val="321562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CBC8F7-87E8-807A-BC8B-A48C488E754F}"/>
              </a:ext>
            </a:extLst>
          </p:cNvPr>
          <p:cNvSpPr txBox="1"/>
          <p:nvPr/>
        </p:nvSpPr>
        <p:spPr>
          <a:xfrm>
            <a:off x="3588775" y="2905780"/>
            <a:ext cx="6096000" cy="584775"/>
          </a:xfrm>
          <a:prstGeom prst="rect">
            <a:avLst/>
          </a:prstGeom>
          <a:noFill/>
        </p:spPr>
        <p:txBody>
          <a:bodyPr wrap="square">
            <a:spAutoFit/>
          </a:bodyPr>
          <a:lstStyle/>
          <a:p>
            <a:r>
              <a:rPr lang="en-IN" sz="3200" b="1" dirty="0">
                <a:latin typeface="Algerian" panose="04020705040A02060702" pitchFamily="82" charset="0"/>
                <a:cs typeface="Times New Roman" panose="02020603050405020304" pitchFamily="18" charset="0"/>
              </a:rPr>
              <a:t>SKILLS &amp; SCORE ANALYSIS</a:t>
            </a:r>
          </a:p>
        </p:txBody>
      </p:sp>
    </p:spTree>
    <p:extLst>
      <p:ext uri="{BB962C8B-B14F-4D97-AF65-F5344CB8AC3E}">
        <p14:creationId xmlns:p14="http://schemas.microsoft.com/office/powerpoint/2010/main" val="279354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BC9316-FEA3-808E-A79F-1EF501078666}"/>
              </a:ext>
            </a:extLst>
          </p:cNvPr>
          <p:cNvSpPr txBox="1"/>
          <p:nvPr/>
        </p:nvSpPr>
        <p:spPr>
          <a:xfrm>
            <a:off x="875071" y="1111045"/>
            <a:ext cx="5328703" cy="738664"/>
          </a:xfrm>
          <a:prstGeom prst="rect">
            <a:avLst/>
          </a:prstGeom>
          <a:noFill/>
        </p:spPr>
        <p:txBody>
          <a:bodyPr wrap="none" rtlCol="0">
            <a:spAutoFit/>
          </a:bodyPr>
          <a:lstStyle/>
          <a:p>
            <a:r>
              <a:rPr lang="en-IN" sz="2400" b="1" dirty="0">
                <a:latin typeface="Algerian" panose="04020705040A02060702" pitchFamily="82" charset="0"/>
                <a:cs typeface="Times New Roman" panose="02020603050405020304" pitchFamily="18" charset="0"/>
              </a:rPr>
              <a:t>ABOUT SKILLS &amp; SCORE ANALYSIS : </a:t>
            </a:r>
          </a:p>
          <a:p>
            <a:endParaRPr lang="en-IN" dirty="0"/>
          </a:p>
        </p:txBody>
      </p:sp>
      <p:sp>
        <p:nvSpPr>
          <p:cNvPr id="5" name="TextBox 4">
            <a:extLst>
              <a:ext uri="{FF2B5EF4-FFF2-40B4-BE49-F238E27FC236}">
                <a16:creationId xmlns:a16="http://schemas.microsoft.com/office/drawing/2014/main" id="{29DA189A-E161-024E-B851-38A9A7FB1A3B}"/>
              </a:ext>
            </a:extLst>
          </p:cNvPr>
          <p:cNvSpPr txBox="1"/>
          <p:nvPr/>
        </p:nvSpPr>
        <p:spPr>
          <a:xfrm>
            <a:off x="2546554" y="1849709"/>
            <a:ext cx="9547123" cy="253537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The Skills &amp; Score Analysis dashboard focuses on evaluating how student skills and test scores influence placement success.</a:t>
            </a:r>
          </a:p>
          <a:p>
            <a:pPr marL="285750" indent="-285750" algn="just">
              <a:lnSpc>
                <a:spcPct val="150000"/>
              </a:lnSpc>
              <a:buFont typeface="Wingdings" panose="05000000000000000000" pitchFamily="2" charset="2"/>
              <a:buChar char="Ø"/>
            </a:pPr>
            <a:r>
              <a:rPr lang="en-US" dirty="0"/>
              <a:t>It helps identify whether technical ability, communication, aptitude, and certifications improve employability.</a:t>
            </a:r>
          </a:p>
          <a:p>
            <a:pPr marL="285750" indent="-285750" algn="just">
              <a:lnSpc>
                <a:spcPct val="150000"/>
              </a:lnSpc>
              <a:buFont typeface="Wingdings" panose="05000000000000000000" pitchFamily="2" charset="2"/>
              <a:buChar char="Ø"/>
            </a:pPr>
            <a:r>
              <a:rPr lang="en-US" dirty="0"/>
              <a:t>The Skills &amp; Score Analysis dashboard studies coding, aptitude, communication, soft skills, and certifications to understand how student skills affect placements.</a:t>
            </a:r>
          </a:p>
        </p:txBody>
      </p:sp>
    </p:spTree>
    <p:extLst>
      <p:ext uri="{BB962C8B-B14F-4D97-AF65-F5344CB8AC3E}">
        <p14:creationId xmlns:p14="http://schemas.microsoft.com/office/powerpoint/2010/main" val="934461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520784-4FBB-70A1-66F1-55179DD6F1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9760" y="508173"/>
            <a:ext cx="3972479" cy="2429214"/>
          </a:xfrm>
          <a:prstGeom prst="rect">
            <a:avLst/>
          </a:prstGeom>
        </p:spPr>
      </p:pic>
      <p:sp>
        <p:nvSpPr>
          <p:cNvPr id="4" name="TextBox 3">
            <a:extLst>
              <a:ext uri="{FF2B5EF4-FFF2-40B4-BE49-F238E27FC236}">
                <a16:creationId xmlns:a16="http://schemas.microsoft.com/office/drawing/2014/main" id="{ED4C84E3-32EC-2404-F93B-6F6AEA027E65}"/>
              </a:ext>
            </a:extLst>
          </p:cNvPr>
          <p:cNvSpPr txBox="1"/>
          <p:nvPr/>
        </p:nvSpPr>
        <p:spPr>
          <a:xfrm>
            <a:off x="678424" y="3164828"/>
            <a:ext cx="11297265" cy="211987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column chart shows the number of </a:t>
            </a:r>
            <a:r>
              <a:rPr lang="en-US" b="1" dirty="0"/>
              <a:t>placed students</a:t>
            </a:r>
            <a:r>
              <a:rPr lang="en-US" dirty="0"/>
              <a:t> based on their </a:t>
            </a:r>
            <a:r>
              <a:rPr lang="en-US" b="1" dirty="0"/>
              <a:t>aptitude test score category</a:t>
            </a:r>
            <a:r>
              <a:rPr lang="en-US" dirty="0"/>
              <a:t>.</a:t>
            </a:r>
          </a:p>
          <a:p>
            <a:pPr marL="285750" indent="-285750" algn="just">
              <a:lnSpc>
                <a:spcPct val="150000"/>
              </a:lnSpc>
              <a:buFont typeface="Wingdings" panose="05000000000000000000" pitchFamily="2" charset="2"/>
              <a:buChar char="Ø"/>
            </a:pPr>
            <a:r>
              <a:rPr lang="en-US" dirty="0"/>
              <a:t>This chart is used to compare placement outcomes across aptitude score levels.</a:t>
            </a:r>
          </a:p>
          <a:p>
            <a:pPr marL="285750" indent="-285750" algn="just">
              <a:lnSpc>
                <a:spcPct val="150000"/>
              </a:lnSpc>
              <a:buFont typeface="Wingdings" panose="05000000000000000000" pitchFamily="2" charset="2"/>
              <a:buChar char="Ø"/>
            </a:pPr>
            <a:r>
              <a:rPr lang="en-IN" b="1" dirty="0"/>
              <a:t>Good</a:t>
            </a:r>
            <a:r>
              <a:rPr lang="en-IN" dirty="0"/>
              <a:t> category , </a:t>
            </a:r>
            <a:r>
              <a:rPr lang="en-US" dirty="0"/>
              <a:t>Highest number of placed students (around 1000).</a:t>
            </a:r>
          </a:p>
          <a:p>
            <a:pPr marL="285750" indent="-285750" algn="just">
              <a:lnSpc>
                <a:spcPct val="150000"/>
              </a:lnSpc>
              <a:buFont typeface="Wingdings" panose="05000000000000000000" pitchFamily="2" charset="2"/>
              <a:buChar char="Ø"/>
            </a:pPr>
            <a:r>
              <a:rPr lang="en-IN" dirty="0"/>
              <a:t>Excellent category , </a:t>
            </a:r>
            <a:r>
              <a:rPr lang="en-US" dirty="0"/>
              <a:t>Second highest placed students (around 700).</a:t>
            </a:r>
          </a:p>
          <a:p>
            <a:pPr marL="285750" indent="-285750" algn="just">
              <a:lnSpc>
                <a:spcPct val="150000"/>
              </a:lnSpc>
              <a:buFont typeface="Wingdings" panose="05000000000000000000" pitchFamily="2" charset="2"/>
              <a:buChar char="Ø"/>
            </a:pPr>
            <a:r>
              <a:rPr lang="en-IN" b="1" dirty="0"/>
              <a:t>Average</a:t>
            </a:r>
            <a:r>
              <a:rPr lang="en-IN" dirty="0"/>
              <a:t> category , </a:t>
            </a:r>
            <a:r>
              <a:rPr lang="en-US" dirty="0"/>
              <a:t>Lowest number of placed students (around 100).</a:t>
            </a:r>
            <a:endParaRPr lang="en-IN" dirty="0"/>
          </a:p>
        </p:txBody>
      </p:sp>
    </p:spTree>
    <p:extLst>
      <p:ext uri="{BB962C8B-B14F-4D97-AF65-F5344CB8AC3E}">
        <p14:creationId xmlns:p14="http://schemas.microsoft.com/office/powerpoint/2010/main" val="11994280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B83E57-A508-70DA-D2B2-B7FFD4E16576}"/>
              </a:ext>
            </a:extLst>
          </p:cNvPr>
          <p:cNvSpPr txBox="1"/>
          <p:nvPr/>
        </p:nvSpPr>
        <p:spPr>
          <a:xfrm>
            <a:off x="1091380" y="1358999"/>
            <a:ext cx="6096000" cy="461665"/>
          </a:xfrm>
          <a:prstGeom prst="rect">
            <a:avLst/>
          </a:prstGeom>
          <a:noFill/>
        </p:spPr>
        <p:txBody>
          <a:bodyPr wrap="square">
            <a:spAutoFit/>
          </a:bodyPr>
          <a:lstStyle/>
          <a:p>
            <a:pPr marL="0" algn="l" rtl="0" eaLnBrk="1" latinLnBrk="0" hangingPunct="1">
              <a:buNone/>
            </a:pPr>
            <a:r>
              <a:rPr lang="en-IN" sz="2400" kern="1200" dirty="0">
                <a:solidFill>
                  <a:srgbClr val="FFFFFF"/>
                </a:solidFill>
                <a:effectLst/>
                <a:latin typeface="Algerian" panose="04020705040A02060702" pitchFamily="82" charset="0"/>
                <a:ea typeface="+mn-ea"/>
                <a:cs typeface="+mn-cs"/>
              </a:rPr>
              <a:t>Overall Insights OF CHART :</a:t>
            </a:r>
            <a:endParaRPr lang="en-IN" sz="2400" dirty="0">
              <a:effectLst/>
            </a:endParaRPr>
          </a:p>
        </p:txBody>
      </p:sp>
      <p:sp>
        <p:nvSpPr>
          <p:cNvPr id="5" name="TextBox 4">
            <a:extLst>
              <a:ext uri="{FF2B5EF4-FFF2-40B4-BE49-F238E27FC236}">
                <a16:creationId xmlns:a16="http://schemas.microsoft.com/office/drawing/2014/main" id="{21B832F7-CD9A-423F-960B-65A2DF1AAD69}"/>
              </a:ext>
            </a:extLst>
          </p:cNvPr>
          <p:cNvSpPr txBox="1"/>
          <p:nvPr/>
        </p:nvSpPr>
        <p:spPr>
          <a:xfrm>
            <a:off x="2964425" y="2292215"/>
            <a:ext cx="8976852" cy="244682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Students with </a:t>
            </a:r>
            <a:r>
              <a:rPr lang="en-US" b="1" dirty="0"/>
              <a:t>Good and Excellent</a:t>
            </a:r>
            <a:r>
              <a:rPr lang="en-US" dirty="0"/>
              <a:t> aptitude scores dominate placements.</a:t>
            </a:r>
          </a:p>
          <a:p>
            <a:pPr marL="285750" indent="-285750" algn="just">
              <a:lnSpc>
                <a:spcPct val="150000"/>
              </a:lnSpc>
              <a:buFont typeface="Wingdings" panose="05000000000000000000" pitchFamily="2" charset="2"/>
              <a:buChar char="Ø"/>
            </a:pPr>
            <a:r>
              <a:rPr lang="en-US" dirty="0"/>
              <a:t>Students in the Good category contribute the largest placement count.</a:t>
            </a:r>
          </a:p>
          <a:p>
            <a:pPr marL="285750" indent="-285750" algn="just">
              <a:lnSpc>
                <a:spcPct val="150000"/>
              </a:lnSpc>
              <a:buFont typeface="Wingdings" panose="05000000000000000000" pitchFamily="2" charset="2"/>
              <a:buChar char="Ø"/>
            </a:pPr>
            <a:r>
              <a:rPr lang="en-US" dirty="0"/>
              <a:t>Excellent scorers also perform strongly in placements.</a:t>
            </a:r>
          </a:p>
          <a:p>
            <a:pPr marL="285750" indent="-285750" algn="just">
              <a:lnSpc>
                <a:spcPct val="150000"/>
              </a:lnSpc>
              <a:buFont typeface="Wingdings" panose="05000000000000000000" pitchFamily="2" charset="2"/>
              <a:buChar char="Ø"/>
            </a:pPr>
            <a:r>
              <a:rPr lang="en-US" dirty="0"/>
              <a:t>Students with average aptitude scores have significantly lower placement outcomes.</a:t>
            </a:r>
          </a:p>
          <a:p>
            <a:endParaRPr lang="en-IN" dirty="0"/>
          </a:p>
        </p:txBody>
      </p:sp>
    </p:spTree>
    <p:extLst>
      <p:ext uri="{BB962C8B-B14F-4D97-AF65-F5344CB8AC3E}">
        <p14:creationId xmlns:p14="http://schemas.microsoft.com/office/powerpoint/2010/main" val="14999733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F6E39F-9743-90B7-4ECB-2535F290A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1788" y="419683"/>
            <a:ext cx="3962953" cy="2429214"/>
          </a:xfrm>
          <a:prstGeom prst="rect">
            <a:avLst/>
          </a:prstGeom>
        </p:spPr>
      </p:pic>
      <p:sp>
        <p:nvSpPr>
          <p:cNvPr id="4" name="TextBox 3">
            <a:extLst>
              <a:ext uri="{FF2B5EF4-FFF2-40B4-BE49-F238E27FC236}">
                <a16:creationId xmlns:a16="http://schemas.microsoft.com/office/drawing/2014/main" id="{DEFF992E-99AA-F84C-F9BF-108E091B2524}"/>
              </a:ext>
            </a:extLst>
          </p:cNvPr>
          <p:cNvSpPr txBox="1"/>
          <p:nvPr/>
        </p:nvSpPr>
        <p:spPr>
          <a:xfrm>
            <a:off x="766916" y="3059668"/>
            <a:ext cx="11090788" cy="295087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area/line chart shows the number of </a:t>
            </a:r>
            <a:r>
              <a:rPr lang="en-US" b="1" dirty="0"/>
              <a:t>placed students</a:t>
            </a:r>
            <a:r>
              <a:rPr lang="en-US" dirty="0"/>
              <a:t> based on their </a:t>
            </a:r>
            <a:r>
              <a:rPr lang="en-US" b="1" dirty="0"/>
              <a:t>soft skills category</a:t>
            </a:r>
            <a:r>
              <a:rPr lang="en-US" dirty="0"/>
              <a:t>.</a:t>
            </a:r>
          </a:p>
          <a:p>
            <a:pPr marL="285750" indent="-285750" algn="just">
              <a:lnSpc>
                <a:spcPct val="150000"/>
              </a:lnSpc>
              <a:buFont typeface="Wingdings" panose="05000000000000000000" pitchFamily="2" charset="2"/>
              <a:buChar char="Ø"/>
            </a:pPr>
            <a:r>
              <a:rPr lang="en-US" dirty="0"/>
              <a:t>The chart helps analyze how soft skills affect placement outcomes.</a:t>
            </a:r>
          </a:p>
          <a:p>
            <a:pPr marL="285750" indent="-285750" algn="just">
              <a:lnSpc>
                <a:spcPct val="150000"/>
              </a:lnSpc>
              <a:buFont typeface="Wingdings" panose="05000000000000000000" pitchFamily="2" charset="2"/>
              <a:buChar char="Ø"/>
            </a:pPr>
            <a:r>
              <a:rPr lang="en-US" dirty="0"/>
              <a:t>This chart is used to show trends and compare placement performance across different soft skill levels.</a:t>
            </a:r>
          </a:p>
          <a:p>
            <a:pPr marL="285750" indent="-285750" algn="just">
              <a:lnSpc>
                <a:spcPct val="150000"/>
              </a:lnSpc>
              <a:buFont typeface="Wingdings" panose="05000000000000000000" pitchFamily="2" charset="2"/>
              <a:buChar char="Ø"/>
            </a:pPr>
            <a:r>
              <a:rPr lang="en-IN" dirty="0"/>
              <a:t>Excellent ( 6-10 ) category , </a:t>
            </a:r>
            <a:r>
              <a:rPr lang="en-US" dirty="0"/>
              <a:t>Highest number of placed students (around 900+).</a:t>
            </a:r>
          </a:p>
          <a:p>
            <a:pPr marL="285750" indent="-285750" algn="just">
              <a:lnSpc>
                <a:spcPct val="150000"/>
              </a:lnSpc>
              <a:buFont typeface="Wingdings" panose="05000000000000000000" pitchFamily="2" charset="2"/>
              <a:buChar char="Ø"/>
            </a:pPr>
            <a:r>
              <a:rPr lang="en-IN" dirty="0"/>
              <a:t>Good (4-5) category , </a:t>
            </a:r>
            <a:r>
              <a:rPr lang="en-US" dirty="0"/>
              <a:t>Slightly lower than Excellent (around 750–800).</a:t>
            </a:r>
          </a:p>
          <a:p>
            <a:pPr marL="285750" indent="-285750" algn="just">
              <a:lnSpc>
                <a:spcPct val="150000"/>
              </a:lnSpc>
              <a:buFont typeface="Wingdings" panose="05000000000000000000" pitchFamily="2" charset="2"/>
              <a:buChar char="Ø"/>
            </a:pPr>
            <a:r>
              <a:rPr lang="en-IN" dirty="0"/>
              <a:t>Weak , </a:t>
            </a:r>
            <a:r>
              <a:rPr lang="en-US" dirty="0"/>
              <a:t>Very low placed students (around 100).</a:t>
            </a:r>
            <a:endParaRPr lang="en-IN" dirty="0"/>
          </a:p>
        </p:txBody>
      </p:sp>
    </p:spTree>
    <p:extLst>
      <p:ext uri="{BB962C8B-B14F-4D97-AF65-F5344CB8AC3E}">
        <p14:creationId xmlns:p14="http://schemas.microsoft.com/office/powerpoint/2010/main" val="3438661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7DE908-9A49-709C-C71C-24D5B6FA3481}"/>
              </a:ext>
            </a:extLst>
          </p:cNvPr>
          <p:cNvSpPr txBox="1"/>
          <p:nvPr/>
        </p:nvSpPr>
        <p:spPr>
          <a:xfrm>
            <a:off x="1140542" y="1516315"/>
            <a:ext cx="6096000" cy="461665"/>
          </a:xfrm>
          <a:prstGeom prst="rect">
            <a:avLst/>
          </a:prstGeom>
          <a:noFill/>
        </p:spPr>
        <p:txBody>
          <a:bodyPr wrap="square">
            <a:spAutoFit/>
          </a:bodyPr>
          <a:lstStyle/>
          <a:p>
            <a:pPr marL="0" algn="l" rtl="0" eaLnBrk="1" latinLnBrk="0" hangingPunct="1">
              <a:buNone/>
            </a:pPr>
            <a:r>
              <a:rPr lang="en-IN" sz="2400" kern="1200" dirty="0">
                <a:solidFill>
                  <a:srgbClr val="FFFFFF"/>
                </a:solidFill>
                <a:effectLst/>
                <a:latin typeface="Algerian" panose="04020705040A02060702" pitchFamily="82" charset="0"/>
                <a:ea typeface="+mn-ea"/>
                <a:cs typeface="+mn-cs"/>
              </a:rPr>
              <a:t>Overall Insights OF CHART :</a:t>
            </a:r>
            <a:endParaRPr lang="en-IN" sz="2400" dirty="0">
              <a:effectLst/>
            </a:endParaRPr>
          </a:p>
        </p:txBody>
      </p:sp>
      <p:sp>
        <p:nvSpPr>
          <p:cNvPr id="4" name="TextBox 3">
            <a:extLst>
              <a:ext uri="{FF2B5EF4-FFF2-40B4-BE49-F238E27FC236}">
                <a16:creationId xmlns:a16="http://schemas.microsoft.com/office/drawing/2014/main" id="{C2B44A03-759E-EFE8-C4B1-86233BF5C813}"/>
              </a:ext>
            </a:extLst>
          </p:cNvPr>
          <p:cNvSpPr txBox="1"/>
          <p:nvPr/>
        </p:nvSpPr>
        <p:spPr>
          <a:xfrm>
            <a:off x="2777613" y="2219998"/>
            <a:ext cx="8917858" cy="1704377"/>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Placement success increases as soft skill level improves.</a:t>
            </a:r>
          </a:p>
          <a:p>
            <a:pPr marL="285750" indent="-285750" algn="just">
              <a:lnSpc>
                <a:spcPct val="150000"/>
              </a:lnSpc>
              <a:buFont typeface="Wingdings" panose="05000000000000000000" pitchFamily="2" charset="2"/>
              <a:buChar char="Ø"/>
            </a:pPr>
            <a:r>
              <a:rPr lang="en-US" dirty="0"/>
              <a:t>Excellent and Good categories dominate placements.</a:t>
            </a:r>
          </a:p>
          <a:p>
            <a:pPr marL="285750" indent="-285750" algn="just">
              <a:lnSpc>
                <a:spcPct val="150000"/>
              </a:lnSpc>
              <a:buFont typeface="Wingdings" panose="05000000000000000000" pitchFamily="2" charset="2"/>
              <a:buChar char="Ø"/>
            </a:pPr>
            <a:r>
              <a:rPr lang="en-US" dirty="0"/>
              <a:t>Students with weak soft skills struggle significantly in placements.</a:t>
            </a:r>
          </a:p>
          <a:p>
            <a:pPr marL="285750" indent="-285750" algn="just">
              <a:lnSpc>
                <a:spcPct val="150000"/>
              </a:lnSpc>
              <a:buFont typeface="Wingdings" panose="05000000000000000000" pitchFamily="2" charset="2"/>
              <a:buChar char="Ø"/>
            </a:pPr>
            <a:r>
              <a:rPr lang="en-US" dirty="0"/>
              <a:t>Soft skills are almost as important as technical skills.</a:t>
            </a:r>
          </a:p>
        </p:txBody>
      </p:sp>
    </p:spTree>
    <p:extLst>
      <p:ext uri="{BB962C8B-B14F-4D97-AF65-F5344CB8AC3E}">
        <p14:creationId xmlns:p14="http://schemas.microsoft.com/office/powerpoint/2010/main" val="12521059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C87ED2-4C37-ECE1-74C2-E119E6A02F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0089" y="438386"/>
            <a:ext cx="4029637" cy="2705478"/>
          </a:xfrm>
          <a:prstGeom prst="rect">
            <a:avLst/>
          </a:prstGeom>
        </p:spPr>
      </p:pic>
      <p:sp>
        <p:nvSpPr>
          <p:cNvPr id="4" name="TextBox 3">
            <a:extLst>
              <a:ext uri="{FF2B5EF4-FFF2-40B4-BE49-F238E27FC236}">
                <a16:creationId xmlns:a16="http://schemas.microsoft.com/office/drawing/2014/main" id="{DF91704C-027C-2E43-38E7-C662215875B2}"/>
              </a:ext>
            </a:extLst>
          </p:cNvPr>
          <p:cNvSpPr txBox="1"/>
          <p:nvPr/>
        </p:nvSpPr>
        <p:spPr>
          <a:xfrm>
            <a:off x="589934" y="3475703"/>
            <a:ext cx="11602065" cy="211987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line chart shows the number of </a:t>
            </a:r>
            <a:r>
              <a:rPr lang="en-US" b="1" dirty="0"/>
              <a:t>placed students</a:t>
            </a:r>
            <a:r>
              <a:rPr lang="en-US" dirty="0"/>
              <a:t> based on their </a:t>
            </a:r>
            <a:r>
              <a:rPr lang="en-US" b="1" dirty="0"/>
              <a:t>communication skills category</a:t>
            </a:r>
            <a:r>
              <a:rPr lang="en-US" dirty="0"/>
              <a:t>.</a:t>
            </a:r>
          </a:p>
          <a:p>
            <a:pPr marL="285750" indent="-285750" algn="just">
              <a:lnSpc>
                <a:spcPct val="150000"/>
              </a:lnSpc>
              <a:buFont typeface="Wingdings" panose="05000000000000000000" pitchFamily="2" charset="2"/>
              <a:buChar char="Ø"/>
            </a:pPr>
            <a:r>
              <a:rPr lang="en-US" dirty="0"/>
              <a:t>The chart helps understand how communication skills influence placement success.</a:t>
            </a:r>
          </a:p>
          <a:p>
            <a:pPr marL="285750" indent="-285750" algn="just">
              <a:lnSpc>
                <a:spcPct val="150000"/>
              </a:lnSpc>
              <a:buFont typeface="Wingdings" panose="05000000000000000000" pitchFamily="2" charset="2"/>
              <a:buChar char="Ø"/>
            </a:pPr>
            <a:r>
              <a:rPr lang="en-US" dirty="0"/>
              <a:t>A line chart is used to show comparison and trend between categories.</a:t>
            </a:r>
          </a:p>
          <a:p>
            <a:pPr marL="285750" indent="-285750" algn="just">
              <a:lnSpc>
                <a:spcPct val="150000"/>
              </a:lnSpc>
              <a:buFont typeface="Wingdings" panose="05000000000000000000" pitchFamily="2" charset="2"/>
              <a:buChar char="Ø"/>
            </a:pPr>
            <a:r>
              <a:rPr lang="en-IN" dirty="0"/>
              <a:t>Good Communication Skills ( 8-10 ) category , </a:t>
            </a:r>
            <a:r>
              <a:rPr lang="en-US" dirty="0"/>
              <a:t>Highest number of placed students (around 1600).</a:t>
            </a:r>
          </a:p>
          <a:p>
            <a:pPr marL="285750" indent="-285750" algn="just">
              <a:lnSpc>
                <a:spcPct val="150000"/>
              </a:lnSpc>
              <a:buFont typeface="Wingdings" panose="05000000000000000000" pitchFamily="2" charset="2"/>
              <a:buChar char="Ø"/>
            </a:pPr>
            <a:r>
              <a:rPr lang="en-IN" dirty="0"/>
              <a:t>Excellent Communication Skills ( 5-7) category , </a:t>
            </a:r>
            <a:r>
              <a:rPr lang="en-US" dirty="0"/>
              <a:t>Lower number of placed students (around 250).</a:t>
            </a:r>
            <a:endParaRPr lang="en-IN" dirty="0"/>
          </a:p>
        </p:txBody>
      </p:sp>
    </p:spTree>
    <p:extLst>
      <p:ext uri="{BB962C8B-B14F-4D97-AF65-F5344CB8AC3E}">
        <p14:creationId xmlns:p14="http://schemas.microsoft.com/office/powerpoint/2010/main" val="13021643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8CB249-6C1F-0A78-6B40-7C29B199A4A5}"/>
              </a:ext>
            </a:extLst>
          </p:cNvPr>
          <p:cNvSpPr txBox="1"/>
          <p:nvPr/>
        </p:nvSpPr>
        <p:spPr>
          <a:xfrm>
            <a:off x="786580" y="1083695"/>
            <a:ext cx="6096000" cy="461665"/>
          </a:xfrm>
          <a:prstGeom prst="rect">
            <a:avLst/>
          </a:prstGeom>
          <a:noFill/>
        </p:spPr>
        <p:txBody>
          <a:bodyPr wrap="square">
            <a:spAutoFit/>
          </a:bodyPr>
          <a:lstStyle/>
          <a:p>
            <a:pPr marL="0" algn="l" rtl="0" eaLnBrk="1" latinLnBrk="0" hangingPunct="1">
              <a:buNone/>
            </a:pPr>
            <a:r>
              <a:rPr lang="en-IN" sz="2400" kern="1200" dirty="0">
                <a:solidFill>
                  <a:srgbClr val="FFFFFF"/>
                </a:solidFill>
                <a:effectLst/>
                <a:latin typeface="Algerian" panose="04020705040A02060702" pitchFamily="82" charset="0"/>
                <a:ea typeface="+mn-ea"/>
                <a:cs typeface="+mn-cs"/>
              </a:rPr>
              <a:t>Overall Insights OF CHART :</a:t>
            </a:r>
            <a:endParaRPr lang="en-IN" sz="2400" dirty="0">
              <a:effectLst/>
            </a:endParaRPr>
          </a:p>
        </p:txBody>
      </p:sp>
      <p:sp>
        <p:nvSpPr>
          <p:cNvPr id="4" name="TextBox 3">
            <a:extLst>
              <a:ext uri="{FF2B5EF4-FFF2-40B4-BE49-F238E27FC236}">
                <a16:creationId xmlns:a16="http://schemas.microsoft.com/office/drawing/2014/main" id="{3A265BB5-0FCC-5F24-CB07-D1F8DB9F3515}"/>
              </a:ext>
            </a:extLst>
          </p:cNvPr>
          <p:cNvSpPr txBox="1"/>
          <p:nvPr/>
        </p:nvSpPr>
        <p:spPr>
          <a:xfrm>
            <a:off x="2526890" y="1843829"/>
            <a:ext cx="9596284" cy="253537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Communication skills have a strong impact on placements.</a:t>
            </a:r>
          </a:p>
          <a:p>
            <a:pPr marL="285750" indent="-285750" algn="just">
              <a:lnSpc>
                <a:spcPct val="150000"/>
              </a:lnSpc>
              <a:buFont typeface="Wingdings" panose="05000000000000000000" pitchFamily="2" charset="2"/>
              <a:buChar char="Ø"/>
            </a:pPr>
            <a:r>
              <a:rPr lang="en-US" dirty="0"/>
              <a:t>Good communication category dominates placements, likely because more students belong to this group.</a:t>
            </a:r>
          </a:p>
          <a:p>
            <a:pPr marL="285750" indent="-285750" algn="just">
              <a:lnSpc>
                <a:spcPct val="150000"/>
              </a:lnSpc>
              <a:buFont typeface="Wingdings" panose="05000000000000000000" pitchFamily="2" charset="2"/>
              <a:buChar char="Ø"/>
            </a:pPr>
            <a:r>
              <a:rPr lang="en-US" dirty="0"/>
              <a:t>Students with strong verbal and interpersonal skills perform better during hiring processes.</a:t>
            </a:r>
          </a:p>
          <a:p>
            <a:pPr marL="285750" indent="-285750" algn="just">
              <a:lnSpc>
                <a:spcPct val="150000"/>
              </a:lnSpc>
              <a:buFont typeface="Wingdings" panose="05000000000000000000" pitchFamily="2" charset="2"/>
              <a:buChar char="Ø"/>
            </a:pPr>
            <a:r>
              <a:rPr lang="en-US" dirty="0"/>
              <a:t>Communication ability is important along with technical skills.</a:t>
            </a:r>
          </a:p>
        </p:txBody>
      </p:sp>
    </p:spTree>
    <p:extLst>
      <p:ext uri="{BB962C8B-B14F-4D97-AF65-F5344CB8AC3E}">
        <p14:creationId xmlns:p14="http://schemas.microsoft.com/office/powerpoint/2010/main" val="2429303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A18532-D139-3372-13B2-60954E3C4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9082" y="555762"/>
            <a:ext cx="3943900" cy="2686425"/>
          </a:xfrm>
          <a:prstGeom prst="rect">
            <a:avLst/>
          </a:prstGeom>
        </p:spPr>
      </p:pic>
      <p:sp>
        <p:nvSpPr>
          <p:cNvPr id="4" name="TextBox 3">
            <a:extLst>
              <a:ext uri="{FF2B5EF4-FFF2-40B4-BE49-F238E27FC236}">
                <a16:creationId xmlns:a16="http://schemas.microsoft.com/office/drawing/2014/main" id="{EA8CE841-E66B-4D1F-8F45-E34108AB296D}"/>
              </a:ext>
            </a:extLst>
          </p:cNvPr>
          <p:cNvSpPr txBox="1"/>
          <p:nvPr/>
        </p:nvSpPr>
        <p:spPr>
          <a:xfrm>
            <a:off x="904567" y="3429000"/>
            <a:ext cx="11080955" cy="244682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This column chart shows the number of </a:t>
            </a:r>
            <a:r>
              <a:rPr lang="en-US" b="1" dirty="0"/>
              <a:t>placed students</a:t>
            </a:r>
            <a:r>
              <a:rPr lang="en-US" dirty="0"/>
              <a:t> based on their </a:t>
            </a:r>
            <a:r>
              <a:rPr lang="en-US" b="1" dirty="0"/>
              <a:t>certificate category</a:t>
            </a:r>
            <a:r>
              <a:rPr lang="en-US" dirty="0"/>
              <a:t>.</a:t>
            </a:r>
          </a:p>
          <a:p>
            <a:pPr marL="285750" indent="-285750" algn="just">
              <a:lnSpc>
                <a:spcPct val="150000"/>
              </a:lnSpc>
              <a:buFont typeface="Wingdings" panose="05000000000000000000" pitchFamily="2" charset="2"/>
              <a:buChar char="Ø"/>
            </a:pPr>
            <a:r>
              <a:rPr lang="en-US" dirty="0"/>
              <a:t>The chart helps analyze how certification category relates to placement outcomes.</a:t>
            </a:r>
          </a:p>
          <a:p>
            <a:pPr marL="285750" indent="-285750" algn="just">
              <a:lnSpc>
                <a:spcPct val="150000"/>
              </a:lnSpc>
              <a:buFont typeface="Wingdings" panose="05000000000000000000" pitchFamily="2" charset="2"/>
              <a:buChar char="Ø"/>
            </a:pPr>
            <a:r>
              <a:rPr lang="en-US" dirty="0"/>
              <a:t>This chart is used to compare placement counts between different certificate categories.</a:t>
            </a:r>
          </a:p>
          <a:p>
            <a:pPr marL="285750" indent="-285750" algn="just">
              <a:lnSpc>
                <a:spcPct val="150000"/>
              </a:lnSpc>
              <a:buFont typeface="Wingdings" panose="05000000000000000000" pitchFamily="2" charset="2"/>
              <a:buChar char="Ø"/>
            </a:pPr>
            <a:r>
              <a:rPr lang="en-IN" dirty="0"/>
              <a:t>Freshers Category ( more than 3 ) , </a:t>
            </a:r>
            <a:r>
              <a:rPr lang="en-US" dirty="0"/>
              <a:t>Highest number of placed students (around 1400).</a:t>
            </a:r>
          </a:p>
          <a:p>
            <a:pPr marL="285750" indent="-285750" algn="just">
              <a:lnSpc>
                <a:spcPct val="150000"/>
              </a:lnSpc>
              <a:buFont typeface="Wingdings" panose="05000000000000000000" pitchFamily="2" charset="2"/>
              <a:buChar char="Ø"/>
            </a:pPr>
            <a:r>
              <a:rPr lang="en-IN" dirty="0"/>
              <a:t>Experience Category ( 1-2) , </a:t>
            </a:r>
            <a:r>
              <a:rPr lang="en-US" dirty="0"/>
              <a:t>Lower placed students (around 400).</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454433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54568A-31E0-4D74-AF07-5B785037A873}"/>
              </a:ext>
            </a:extLst>
          </p:cNvPr>
          <p:cNvSpPr txBox="1"/>
          <p:nvPr/>
        </p:nvSpPr>
        <p:spPr>
          <a:xfrm>
            <a:off x="786580" y="1211514"/>
            <a:ext cx="6096000" cy="461665"/>
          </a:xfrm>
          <a:prstGeom prst="rect">
            <a:avLst/>
          </a:prstGeom>
          <a:noFill/>
        </p:spPr>
        <p:txBody>
          <a:bodyPr wrap="square">
            <a:spAutoFit/>
          </a:bodyPr>
          <a:lstStyle/>
          <a:p>
            <a:pPr marL="0" algn="l" rtl="0" eaLnBrk="1" latinLnBrk="0" hangingPunct="1">
              <a:buNone/>
            </a:pPr>
            <a:r>
              <a:rPr lang="en-IN" sz="2400" kern="1200" dirty="0">
                <a:solidFill>
                  <a:srgbClr val="FFFFFF"/>
                </a:solidFill>
                <a:effectLst/>
                <a:latin typeface="Algerian" panose="04020705040A02060702" pitchFamily="82" charset="0"/>
                <a:ea typeface="+mn-ea"/>
                <a:cs typeface="+mn-cs"/>
              </a:rPr>
              <a:t>Overall Insights OF CHART :</a:t>
            </a:r>
            <a:endParaRPr lang="en-IN" sz="2400" dirty="0">
              <a:effectLst/>
            </a:endParaRPr>
          </a:p>
        </p:txBody>
      </p:sp>
      <p:sp>
        <p:nvSpPr>
          <p:cNvPr id="4" name="TextBox 3">
            <a:extLst>
              <a:ext uri="{FF2B5EF4-FFF2-40B4-BE49-F238E27FC236}">
                <a16:creationId xmlns:a16="http://schemas.microsoft.com/office/drawing/2014/main" id="{6027475B-5166-990B-9416-2300C7B110DB}"/>
              </a:ext>
            </a:extLst>
          </p:cNvPr>
          <p:cNvSpPr txBox="1"/>
          <p:nvPr/>
        </p:nvSpPr>
        <p:spPr>
          <a:xfrm>
            <a:off x="2939845" y="1951672"/>
            <a:ext cx="9075174" cy="2119876"/>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Certifications help improve placement readiness for fresh graduates.</a:t>
            </a:r>
          </a:p>
          <a:p>
            <a:pPr marL="285750" indent="-285750" algn="just">
              <a:lnSpc>
                <a:spcPct val="150000"/>
              </a:lnSpc>
              <a:buFont typeface="Wingdings" panose="05000000000000000000" pitchFamily="2" charset="2"/>
              <a:buChar char="Ø"/>
            </a:pPr>
            <a:r>
              <a:rPr lang="en-US" dirty="0"/>
              <a:t>Both freshers and experienced students benefit from additional certifications.</a:t>
            </a:r>
          </a:p>
          <a:p>
            <a:pPr marL="285750" indent="-285750" algn="just">
              <a:lnSpc>
                <a:spcPct val="150000"/>
              </a:lnSpc>
              <a:buFont typeface="Wingdings" panose="05000000000000000000" pitchFamily="2" charset="2"/>
              <a:buChar char="Ø"/>
            </a:pPr>
            <a:r>
              <a:rPr lang="en-US" dirty="0"/>
              <a:t>Industry-recognized certifications increase employability.</a:t>
            </a:r>
          </a:p>
          <a:p>
            <a:pPr marL="285750" indent="-285750" algn="just">
              <a:lnSpc>
                <a:spcPct val="150000"/>
              </a:lnSpc>
              <a:buFont typeface="Wingdings" panose="05000000000000000000" pitchFamily="2" charset="2"/>
              <a:buChar char="Ø"/>
            </a:pPr>
            <a:r>
              <a:rPr lang="en-US" dirty="0"/>
              <a:t>Freshers show higher placements mainly because the dataset likely contains a larger fresher population.</a:t>
            </a:r>
            <a:endParaRPr lang="en-IN" dirty="0"/>
          </a:p>
        </p:txBody>
      </p:sp>
    </p:spTree>
    <p:extLst>
      <p:ext uri="{BB962C8B-B14F-4D97-AF65-F5344CB8AC3E}">
        <p14:creationId xmlns:p14="http://schemas.microsoft.com/office/powerpoint/2010/main" val="3245591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B5C60A-72D6-75E2-0287-FA5B8880A590}"/>
              </a:ext>
            </a:extLst>
          </p:cNvPr>
          <p:cNvSpPr txBox="1"/>
          <p:nvPr/>
        </p:nvSpPr>
        <p:spPr>
          <a:xfrm>
            <a:off x="4109884" y="975541"/>
            <a:ext cx="6096000" cy="461665"/>
          </a:xfrm>
          <a:prstGeom prst="rect">
            <a:avLst/>
          </a:prstGeom>
          <a:noFill/>
        </p:spPr>
        <p:txBody>
          <a:bodyPr wrap="square">
            <a:spAutoFit/>
          </a:bodyPr>
          <a:lstStyle/>
          <a:p>
            <a:r>
              <a:rPr lang="en-IN" sz="2400" b="1" dirty="0">
                <a:latin typeface="Algerian" panose="04020705040A02060702" pitchFamily="82" charset="0"/>
              </a:rPr>
              <a:t>OVERALL INSIGHTS </a:t>
            </a:r>
          </a:p>
        </p:txBody>
      </p:sp>
      <p:sp>
        <p:nvSpPr>
          <p:cNvPr id="4" name="TextBox 3">
            <a:extLst>
              <a:ext uri="{FF2B5EF4-FFF2-40B4-BE49-F238E27FC236}">
                <a16:creationId xmlns:a16="http://schemas.microsoft.com/office/drawing/2014/main" id="{8BF46FF6-7B60-1A1C-5D88-5071764603A9}"/>
              </a:ext>
            </a:extLst>
          </p:cNvPr>
          <p:cNvSpPr txBox="1"/>
          <p:nvPr/>
        </p:nvSpPr>
        <p:spPr>
          <a:xfrm>
            <a:off x="1022555" y="1662952"/>
            <a:ext cx="10795819" cy="3277820"/>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Strong aptitude skills improve performance in recruitment tests and selection rounds.</a:t>
            </a:r>
          </a:p>
          <a:p>
            <a:pPr marL="285750" indent="-285750" algn="just">
              <a:lnSpc>
                <a:spcPct val="150000"/>
              </a:lnSpc>
              <a:buFont typeface="Wingdings" panose="05000000000000000000" pitchFamily="2" charset="2"/>
              <a:buChar char="Ø"/>
            </a:pPr>
            <a:r>
              <a:rPr lang="en-US" dirty="0"/>
              <a:t>Communication, teamwork, confidence, and professionalism are important for employability.</a:t>
            </a:r>
          </a:p>
          <a:p>
            <a:pPr marL="285750" indent="-285750" algn="just">
              <a:lnSpc>
                <a:spcPct val="150000"/>
              </a:lnSpc>
              <a:buFont typeface="Wingdings" panose="05000000000000000000" pitchFamily="2" charset="2"/>
              <a:buChar char="Ø"/>
            </a:pPr>
            <a:r>
              <a:rPr lang="en-US" dirty="0"/>
              <a:t>Technical knowledge alone is not enough; communication skills are also critical.</a:t>
            </a:r>
          </a:p>
          <a:p>
            <a:pPr marL="285750" indent="-285750" algn="just">
              <a:lnSpc>
                <a:spcPct val="150000"/>
              </a:lnSpc>
              <a:buFont typeface="Wingdings" panose="05000000000000000000" pitchFamily="2" charset="2"/>
              <a:buChar char="Ø"/>
            </a:pPr>
            <a:r>
              <a:rPr lang="en-US" dirty="0"/>
              <a:t>Industry certifications help students stand out during recruitment.</a:t>
            </a:r>
          </a:p>
          <a:p>
            <a:pPr marL="285750" indent="-285750" algn="just">
              <a:lnSpc>
                <a:spcPct val="150000"/>
              </a:lnSpc>
              <a:buFont typeface="Wingdings" panose="05000000000000000000" pitchFamily="2" charset="2"/>
              <a:buChar char="Ø"/>
            </a:pPr>
            <a:r>
              <a:rPr lang="en-US" dirty="0"/>
              <a:t>“The Skills &amp; Score Analysis dashboard proves that placements are not based only on academics. Students with strong aptitude, communication, soft skills, and certifications achieve better placement outcomes.”</a:t>
            </a:r>
          </a:p>
          <a:p>
            <a:endParaRPr lang="en-IN" dirty="0"/>
          </a:p>
        </p:txBody>
      </p:sp>
    </p:spTree>
    <p:extLst>
      <p:ext uri="{BB962C8B-B14F-4D97-AF65-F5344CB8AC3E}">
        <p14:creationId xmlns:p14="http://schemas.microsoft.com/office/powerpoint/2010/main" val="6776926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B4B63-2CA4-60C0-B7EC-D976105006EA}"/>
              </a:ext>
            </a:extLst>
          </p:cNvPr>
          <p:cNvSpPr txBox="1"/>
          <p:nvPr/>
        </p:nvSpPr>
        <p:spPr>
          <a:xfrm>
            <a:off x="4355691" y="2576052"/>
            <a:ext cx="3251211" cy="584775"/>
          </a:xfrm>
          <a:prstGeom prst="rect">
            <a:avLst/>
          </a:prstGeom>
          <a:noFill/>
        </p:spPr>
        <p:txBody>
          <a:bodyPr wrap="none" rtlCol="0">
            <a:spAutoFit/>
          </a:bodyPr>
          <a:lstStyle/>
          <a:p>
            <a:r>
              <a:rPr lang="en-IN" sz="3200" dirty="0">
                <a:latin typeface="Algerian" panose="04020705040A02060702" pitchFamily="82" charset="0"/>
              </a:rPr>
              <a:t>FINAL INSIGHTS </a:t>
            </a:r>
          </a:p>
        </p:txBody>
      </p:sp>
    </p:spTree>
    <p:extLst>
      <p:ext uri="{BB962C8B-B14F-4D97-AF65-F5344CB8AC3E}">
        <p14:creationId xmlns:p14="http://schemas.microsoft.com/office/powerpoint/2010/main" val="27353364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40AB9E-3993-90E6-6276-3AB0066D1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6137" y="864836"/>
            <a:ext cx="2657518" cy="1966854"/>
          </a:xfrm>
          <a:prstGeom prst="rect">
            <a:avLst/>
          </a:prstGeom>
        </p:spPr>
      </p:pic>
      <p:sp>
        <p:nvSpPr>
          <p:cNvPr id="4" name="TextBox 3">
            <a:extLst>
              <a:ext uri="{FF2B5EF4-FFF2-40B4-BE49-F238E27FC236}">
                <a16:creationId xmlns:a16="http://schemas.microsoft.com/office/drawing/2014/main" id="{C3CA734F-6F92-3A80-DF24-58F3C065B578}"/>
              </a:ext>
            </a:extLst>
          </p:cNvPr>
          <p:cNvSpPr txBox="1"/>
          <p:nvPr/>
        </p:nvSpPr>
        <p:spPr>
          <a:xfrm>
            <a:off x="750060" y="678024"/>
            <a:ext cx="11326762" cy="585955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cs typeface="Times New Roman" panose="02020603050405020304" pitchFamily="18" charset="0"/>
              </a:rPr>
              <a:t>Placement rate is low, so improvement is needed in training and skills.</a:t>
            </a:r>
          </a:p>
          <a:p>
            <a:pPr marL="285750" indent="-285750" algn="just">
              <a:lnSpc>
                <a:spcPct val="150000"/>
              </a:lnSpc>
              <a:buFont typeface="Arial" panose="020B0604020202020204" pitchFamily="34" charset="0"/>
              <a:buChar char="•"/>
            </a:pPr>
            <a:r>
              <a:rPr lang="en-US" dirty="0">
                <a:cs typeface="Times New Roman" panose="02020603050405020304" pitchFamily="18" charset="0"/>
              </a:rPr>
              <a:t>Higher CGPA increases placement probability, but skills are also important.</a:t>
            </a:r>
          </a:p>
          <a:p>
            <a:pPr marL="285750" indent="-285750" algn="just">
              <a:lnSpc>
                <a:spcPct val="150000"/>
              </a:lnSpc>
              <a:buFont typeface="Arial" panose="020B0604020202020204" pitchFamily="34" charset="0"/>
              <a:buChar char="•"/>
            </a:pPr>
            <a:r>
              <a:rPr lang="en-US" dirty="0">
                <a:cs typeface="Times New Roman" panose="02020603050405020304" pitchFamily="18" charset="0"/>
              </a:rPr>
              <a:t>Opportunities are fair, but depend on skills and branch</a:t>
            </a:r>
          </a:p>
          <a:p>
            <a:pPr marL="285750" indent="-285750" algn="just">
              <a:lnSpc>
                <a:spcPct val="150000"/>
              </a:lnSpc>
              <a:buFont typeface="Arial" panose="020B0604020202020204" pitchFamily="34" charset="0"/>
              <a:buChar char="•"/>
            </a:pPr>
            <a:r>
              <a:rPr lang="en-US" dirty="0">
                <a:cs typeface="Times New Roman" panose="02020603050405020304" pitchFamily="18" charset="0"/>
              </a:rPr>
              <a:t>Students improve coding, aptitude, and communication skills</a:t>
            </a:r>
          </a:p>
          <a:p>
            <a:pPr marL="285750" indent="-285750" algn="just">
              <a:lnSpc>
                <a:spcPct val="150000"/>
              </a:lnSpc>
              <a:buFont typeface="Arial" panose="020B0604020202020204" pitchFamily="34" charset="0"/>
              <a:buChar char="•"/>
            </a:pPr>
            <a:r>
              <a:rPr lang="en-US" dirty="0">
                <a:cs typeface="Times New Roman" panose="02020603050405020304" pitchFamily="18" charset="0"/>
              </a:rPr>
              <a:t>Focus on skill-based training programs</a:t>
            </a:r>
          </a:p>
          <a:p>
            <a:pPr marL="285750" indent="-285750" algn="just">
              <a:lnSpc>
                <a:spcPct val="150000"/>
              </a:lnSpc>
              <a:buFont typeface="Arial" panose="020B0604020202020204" pitchFamily="34" charset="0"/>
              <a:buChar char="•"/>
            </a:pPr>
            <a:r>
              <a:rPr lang="en-IN" dirty="0">
                <a:cs typeface="Times New Roman" panose="02020603050405020304" pitchFamily="18" charset="0"/>
              </a:rPr>
              <a:t>Encourage internships &amp; certifications</a:t>
            </a:r>
          </a:p>
          <a:p>
            <a:pPr marL="285750" indent="-285750" algn="just">
              <a:lnSpc>
                <a:spcPct val="150000"/>
              </a:lnSpc>
              <a:buFont typeface="Arial" panose="020B0604020202020204" pitchFamily="34" charset="0"/>
              <a:buChar char="•"/>
            </a:pPr>
            <a:r>
              <a:rPr lang="en-IN" dirty="0">
                <a:cs typeface="Times New Roman" panose="02020603050405020304" pitchFamily="18" charset="0"/>
              </a:rPr>
              <a:t>Soft skills  alone are not enough Technical + communication skills together improve  placement chances</a:t>
            </a:r>
          </a:p>
          <a:p>
            <a:pPr>
              <a:lnSpc>
                <a:spcPct val="150000"/>
              </a:lnSpc>
            </a:pPr>
            <a:r>
              <a:rPr lang="en-US" dirty="0"/>
              <a:t>👉 “The dashboard clearly shows that placement success is not based only on marks. Students who combine academics with technical skills, internships, projects, communication ability, and certifications achieve the best placement outcomes.”</a:t>
            </a:r>
          </a:p>
          <a:p>
            <a:pPr>
              <a:lnSpc>
                <a:spcPct val="150000"/>
              </a:lnSpc>
            </a:pPr>
            <a:r>
              <a:rPr lang="en-US" dirty="0"/>
              <a:t>👉 “By focusing on skill development and practical exposure, institutions can significantly improve overall placement performance.”</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32287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42A010-DFDC-9ADB-33AB-8AD300513802}"/>
              </a:ext>
            </a:extLst>
          </p:cNvPr>
          <p:cNvSpPr txBox="1"/>
          <p:nvPr/>
        </p:nvSpPr>
        <p:spPr>
          <a:xfrm>
            <a:off x="4851108" y="2844225"/>
            <a:ext cx="2489784" cy="584775"/>
          </a:xfrm>
          <a:prstGeom prst="rect">
            <a:avLst/>
          </a:prstGeom>
          <a:noFill/>
        </p:spPr>
        <p:txBody>
          <a:bodyPr wrap="none" rtlCol="0">
            <a:spAutoFit/>
          </a:bodyPr>
          <a:lstStyle/>
          <a:p>
            <a:r>
              <a:rPr lang="en-IN" sz="3200" dirty="0">
                <a:latin typeface="Algerian" panose="04020705040A02060702" pitchFamily="82" charset="0"/>
              </a:rPr>
              <a:t>THANK YOU </a:t>
            </a:r>
          </a:p>
        </p:txBody>
      </p:sp>
    </p:spTree>
    <p:extLst>
      <p:ext uri="{BB962C8B-B14F-4D97-AF65-F5344CB8AC3E}">
        <p14:creationId xmlns:p14="http://schemas.microsoft.com/office/powerpoint/2010/main" val="7131677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346</TotalTime>
  <Words>2688</Words>
  <Application>Microsoft Office PowerPoint</Application>
  <PresentationFormat>Widescreen</PresentationFormat>
  <Paragraphs>239</Paragraphs>
  <Slides>49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Algerian</vt:lpstr>
      <vt:lpstr>Arial</vt:lpstr>
      <vt:lpstr>Bookman Old Style</vt:lpstr>
      <vt:lpstr>Rockwell</vt:lpstr>
      <vt:lpstr>Times New Roman</vt:lpstr>
      <vt:lpstr>Wingdings</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Sandhya S</dc:creator>
  <cp:lastModifiedBy>Sandhya S</cp:lastModifiedBy>
  <cp:revision>5</cp:revision>
  <dcterms:created xsi:type="dcterms:W3CDTF">2026-05-02T12:28:42Z</dcterms:created>
  <dcterms:modified xsi:type="dcterms:W3CDTF">2026-05-07T06:29:38Z</dcterms:modified>
</cp:coreProperties>
</file>